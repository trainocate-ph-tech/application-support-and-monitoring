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Begin with learner experience and expected outputs. The host is shared: only one team injects a fault at a time. The supplied PDF is the curriculum authority; Ubuntu is the live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390 minutes plus 60-minute lunch and two 15-minute breaks. Advanced challenge banks are extension work. Split blocks around breaks as needed; do not silently remove the capstone.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shared/instructor/setup-and-delivery.md. Current EC2 capacity is not the classroom recommendation. Keep ports private; use SSH forwarding. The simple app does not implement a connection pool or real payments.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Assign investigator, operator, scribe/reviewer. Use the shared report template. Empty output, missing permissions and unknown states are not proof of health.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module2/exercises/01-db-baseline.md</a:t>
            </a:r>
          </a:p>
          <a:p>
            <a:r>
              <a:t>Duration: 35</a:t>
            </a:r>
          </a:p>
          <a:p/>
          <a:p>
            <a:r>
              <a:t>Create a protected client configuration</a:t>
            </a:r>
          </a:p>
          <a:p>
            <a:r>
              <a:t>Enter the client settings</a:t>
            </a:r>
          </a:p>
          <a:p>
            <a:r>
              <a:t>Run the bounded health check</a:t>
            </a:r>
          </a:p>
          <a:p>
            <a:r>
              <a:t>Enter MySQL and identify the session</a:t>
            </a:r>
          </a:p>
          <a:p>
            <a:r>
              <a:t>Capture a read-only baseline</a:t>
            </a:r>
          </a:p>
          <a:p>
            <a:r>
              <a:t>Inspect service and full diagnostics</a:t>
            </a:r>
          </a:p>
          <a:p>
            <a:r>
              <a:t>Transfer the method without copying</a:t>
            </a:r>
          </a:p>
          <a:p/>
          <a:p>
            <a:r>
              <a:t>INSTRUCTOR ANSWER: SELECT 1 checks a narrow path. PROCESS privilege controls visibility of other sessions; missing privileges can hide incident evidence. Do not distribute the application account password to learners. Use per-team diagnostic accounts and instructor-controlled writes.</a:t>
            </a:r>
          </a:p>
          <a:p/>
          <a:p>
            <a:r>
              <a:t>Deliverable: A database baseline and a protected client configuration, never submitted with its password.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module2/exercises/01-db-baseline.md</a:t>
            </a:r>
          </a:p>
          <a:p>
            <a:r>
              <a:t>Duration: 35</a:t>
            </a:r>
          </a:p>
          <a:p/>
          <a:p>
            <a:r>
              <a:t>Create a protected client configuration</a:t>
            </a:r>
          </a:p>
          <a:p>
            <a:r>
              <a:t>Enter the client settings</a:t>
            </a:r>
          </a:p>
          <a:p>
            <a:r>
              <a:t>Run the bounded health check</a:t>
            </a:r>
          </a:p>
          <a:p>
            <a:r>
              <a:t>Enter MySQL and identify the session</a:t>
            </a:r>
          </a:p>
          <a:p>
            <a:r>
              <a:t>Capture a read-only baseline</a:t>
            </a:r>
          </a:p>
          <a:p>
            <a:r>
              <a:t>Inspect service and full diagnostics</a:t>
            </a:r>
          </a:p>
          <a:p>
            <a:r>
              <a:t>Transfer the method without copying</a:t>
            </a:r>
          </a:p>
          <a:p/>
          <a:p>
            <a:r>
              <a:t>INSTRUCTOR ANSWER: SELECT 1 checks a narrow path. PROCESS privilege controls visibility of other sessions; missing privileges can hide incident evidence. Do not distribute the application account password to learners. Use per-team diagnostic accounts and instructor-controlled writes.</a:t>
            </a:r>
          </a:p>
          <a:p/>
          <a:p>
            <a:r>
              <a:t>Deliverable: A database baseline and a protected client configuration, never submitted with its password.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module2/exercises/01-db-baseline.md</a:t>
            </a:r>
          </a:p>
          <a:p>
            <a:r>
              <a:t>Duration: 35</a:t>
            </a:r>
          </a:p>
          <a:p/>
          <a:p>
            <a:r>
              <a:t>Create a protected client configuration</a:t>
            </a:r>
          </a:p>
          <a:p>
            <a:r>
              <a:t>Enter the client settings</a:t>
            </a:r>
          </a:p>
          <a:p>
            <a:r>
              <a:t>Run the bounded health check</a:t>
            </a:r>
          </a:p>
          <a:p>
            <a:r>
              <a:t>Enter MySQL and identify the session</a:t>
            </a:r>
          </a:p>
          <a:p>
            <a:r>
              <a:t>Capture a read-only baseline</a:t>
            </a:r>
          </a:p>
          <a:p>
            <a:r>
              <a:t>Inspect service and full diagnostics</a:t>
            </a:r>
          </a:p>
          <a:p>
            <a:r>
              <a:t>Transfer the method without copying</a:t>
            </a:r>
          </a:p>
          <a:p/>
          <a:p>
            <a:r>
              <a:t>INSTRUCTOR ANSWER: SELECT 1 checks a narrow path. PROCESS privilege controls visibility of other sessions; missing privileges can hide incident evidence. Do not distribute the application account password to learners. Use per-team diagnostic accounts and instructor-controlled writes.</a:t>
            </a:r>
          </a:p>
          <a:p/>
          <a:p>
            <a:r>
              <a:t>Deliverable: A database baseline and a protected client configuration, never submitted with its password.</a:t>
            </a:r>
          </a:p>
          <a:p/>
          <a:p>
            <a:r>
              <a:t>FULL WORKSHEET COMMANDS:</a:t>
            </a:r>
          </a:p>
          <a:p>
            <a:r>
              <a:t>umask 077</a:t>
            </a:r>
          </a:p>
          <a:p>
            <a:r>
              <a:t>touch "$HOME/.support-lab.cnf"</a:t>
            </a:r>
          </a:p>
          <a:p>
            <a:r>
              <a:t>chmod 600 "$HOME/.support-lab.cnf"</a:t>
            </a:r>
          </a:p>
          <a:p>
            <a:r>
              <a:t>nano "$HOME/.support-lab.cnf"</a:t>
            </a:r>
          </a:p>
          <a:p/>
          <a:p>
            <a:r>
              <a:t>[client]</a:t>
            </a:r>
          </a:p>
          <a:p>
            <a:r>
              <a:t>user=YOUR_ASSIGNED_TEAM_LOGIN</a:t>
            </a:r>
          </a:p>
          <a:p>
            <a:r>
              <a:t>password=YOUR_PRIVATE_PASSWORD</a:t>
            </a:r>
          </a:p>
          <a:p>
            <a:r>
              <a:t>host=localhost</a:t>
            </a:r>
          </a:p>
          <a:p/>
          <a:p>
            <a:r>
              <a:t>stat -c '%a %n' "$HOME/.support-lab.cnf"</a:t>
            </a:r>
          </a:p>
          <a:p>
            <a:r>
              <a:t>cd "$COURSE_ROOT"</a:t>
            </a:r>
          </a:p>
          <a:p>
            <a:r>
              <a:t>MYSQL_CNF="$HOME/.support-lab.cnf" shared/scripts/db-health.sh</a:t>
            </a:r>
          </a:p>
          <a:p>
            <a:r>
              <a:t>check_rc=$?</a:t>
            </a:r>
          </a:p>
          <a:p>
            <a:r>
              <a:t>printf 'db_health_exit=%s\n' "$check_rc"</a:t>
            </a:r>
          </a:p>
          <a:p/>
          <a:p>
            <a:r>
              <a:t>mysql --defaults-extra-file="$HOME/.support-lab.cnf"</a:t>
            </a:r>
          </a:p>
          <a:p/>
          <a:p>
            <a:r>
              <a:t>SELECT UTC_TIMESTAMP(), CURRENT_USER(), VERSION();</a:t>
            </a:r>
          </a:p>
          <a:p>
            <a:r>
              <a:t>SHOW FULL PROCESSLIST;</a:t>
            </a:r>
          </a:p>
          <a:p>
            <a:r>
              <a:t>SHOW GLOBAL STATUS LIKE 'Threads_connected';</a:t>
            </a:r>
          </a:p>
          <a:p>
            <a:r>
              <a:t>SHOW VARIABLES LIKE 'max_connections';</a:t>
            </a:r>
          </a:p>
          <a:p>
            <a:r>
              <a:t>SHOW VARIABLES LIKE 'log_error';</a:t>
            </a:r>
          </a:p>
          <a:p>
            <a:r>
              <a:t>exit</a:t>
            </a:r>
          </a:p>
          <a:p/>
          <a:p>
            <a:r>
              <a:t>cd "$COURSE_ROOT"</a:t>
            </a:r>
          </a:p>
          <a:p>
            <a:r>
              <a:t>systemctl status mysql --no-pager</a:t>
            </a:r>
          </a:p>
          <a:p>
            <a:r>
              <a:t>journalctl -u mysql --since '15 minutes ago' --utc --no-pager</a:t>
            </a:r>
          </a:p>
          <a:p>
            <a:r>
              <a:t>mysql --defaults-extra-file="$HOME/.support-lab.cnf" &lt; shared/sql/mysql/diagnostics.sql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module2/exercises/01-db-baseline.md</a:t>
            </a:r>
          </a:p>
          <a:p>
            <a:r>
              <a:t>Duration: 35</a:t>
            </a:r>
          </a:p>
          <a:p/>
          <a:p>
            <a:r>
              <a:t>Create a protected client configuration</a:t>
            </a:r>
          </a:p>
          <a:p>
            <a:r>
              <a:t>Enter the client settings</a:t>
            </a:r>
          </a:p>
          <a:p>
            <a:r>
              <a:t>Run the bounded health check</a:t>
            </a:r>
          </a:p>
          <a:p>
            <a:r>
              <a:t>Enter MySQL and identify the session</a:t>
            </a:r>
          </a:p>
          <a:p>
            <a:r>
              <a:t>Capture a read-only baseline</a:t>
            </a:r>
          </a:p>
          <a:p>
            <a:r>
              <a:t>Inspect service and full diagnostics</a:t>
            </a:r>
          </a:p>
          <a:p>
            <a:r>
              <a:t>Transfer the method without copying</a:t>
            </a:r>
          </a:p>
          <a:p/>
          <a:p>
            <a:r>
              <a:t>INSTRUCTOR ANSWER: SELECT 1 checks a narrow path. PROCESS privilege controls visibility of other sessions; missing privileges can hide incident evidence. Do not distribute the application account password to learners. Use per-team diagnostic accounts and instructor-controlled writes.</a:t>
            </a:r>
          </a:p>
          <a:p/>
          <a:p>
            <a:r>
              <a:t>Deliverable: A database baseline and a protected client configuration, never submitted with its password.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module2/exercises/01-db-baseline.md</a:t>
            </a:r>
          </a:p>
          <a:p>
            <a:r>
              <a:t>Duration: 35</a:t>
            </a:r>
          </a:p>
          <a:p/>
          <a:p>
            <a:r>
              <a:t>Create a protected client configuration</a:t>
            </a:r>
          </a:p>
          <a:p>
            <a:r>
              <a:t>Enter the client settings</a:t>
            </a:r>
          </a:p>
          <a:p>
            <a:r>
              <a:t>Run the bounded health check</a:t>
            </a:r>
          </a:p>
          <a:p>
            <a:r>
              <a:t>Enter MySQL and identify the session</a:t>
            </a:r>
          </a:p>
          <a:p>
            <a:r>
              <a:t>Capture a read-only baseline</a:t>
            </a:r>
          </a:p>
          <a:p>
            <a:r>
              <a:t>Inspect service and full diagnostics</a:t>
            </a:r>
          </a:p>
          <a:p>
            <a:r>
              <a:t>Transfer the method without copying</a:t>
            </a:r>
          </a:p>
          <a:p/>
          <a:p>
            <a:r>
              <a:t>INSTRUCTOR ANSWER: SELECT 1 checks a narrow path. PROCESS privilege controls visibility of other sessions; missing privileges can hide incident evidence. Do not distribute the application account password to learners. Use per-team diagnostic accounts and instructor-controlled writes.</a:t>
            </a:r>
          </a:p>
          <a:p/>
          <a:p>
            <a:r>
              <a:t>Deliverable: A database baseline and a protected client configuration, never submitted with its password.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module2/exercises/02-mysql-slow.md</a:t>
            </a:r>
          </a:p>
          <a:p>
            <a:r>
              <a:t>Duration: 40</a:t>
            </a:r>
          </a:p>
          <a:p/>
          <a:p>
            <a:r>
              <a:t>Record the original logging configuration</a:t>
            </a:r>
          </a:p>
          <a:p>
            <a:r>
              <a:t>Enable a short capture window</a:t>
            </a:r>
          </a:p>
          <a:p>
            <a:r>
              <a:t>Open a fresh learner connection</a:t>
            </a:r>
          </a:p>
          <a:p>
            <a:r>
              <a:t>Create bounded slow-query evidence</a:t>
            </a:r>
          </a:p>
          <a:p>
            <a:r>
              <a:t>Inspect the capture and rank the fixture</a:t>
            </a:r>
          </a:p>
          <a:p>
            <a:r>
              <a:t>Restore the exact original values</a:t>
            </a:r>
          </a:p>
          <a:p>
            <a:r>
              <a:t>Transfer the method without copying</a:t>
            </a:r>
          </a:p>
          <a:p/>
          <a:p>
            <a:r>
              <a:t>INSTRUCTOR ANSWER: Elapsed time includes waiting and is not a CPU measurement. Use fresh sessions or an explicit session setting. Supplied evidence has a frequent player-report query and a rarer long query; compare total impact rather than selecting only the largest individual duration.</a:t>
            </a:r>
          </a:p>
          <a:p/>
          <a:p>
            <a:r>
              <a:t>Deliverable: A ranked slow-query table with units, frequency and next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module2/exercises/02-mysql-slow.md</a:t>
            </a:r>
          </a:p>
          <a:p>
            <a:r>
              <a:t>Duration: 40</a:t>
            </a:r>
          </a:p>
          <a:p/>
          <a:p>
            <a:r>
              <a:t>Record the original logging configuration</a:t>
            </a:r>
          </a:p>
          <a:p>
            <a:r>
              <a:t>Enable a short capture window</a:t>
            </a:r>
          </a:p>
          <a:p>
            <a:r>
              <a:t>Open a fresh learner connection</a:t>
            </a:r>
          </a:p>
          <a:p>
            <a:r>
              <a:t>Create bounded slow-query evidence</a:t>
            </a:r>
          </a:p>
          <a:p>
            <a:r>
              <a:t>Inspect the capture and rank the fixture</a:t>
            </a:r>
          </a:p>
          <a:p>
            <a:r>
              <a:t>Restore the exact original values</a:t>
            </a:r>
          </a:p>
          <a:p>
            <a:r>
              <a:t>Transfer the method without copying</a:t>
            </a:r>
          </a:p>
          <a:p/>
          <a:p>
            <a:r>
              <a:t>INSTRUCTOR ANSWER: Elapsed time includes waiting and is not a CPU measurement. Use fresh sessions or an explicit session setting. Supplied evidence has a frequent player-report query and a rarer long query; compare total impact rather than selecting only the largest individual duration.</a:t>
            </a:r>
          </a:p>
          <a:p/>
          <a:p>
            <a:r>
              <a:t>Deliverable: A ranked slow-query table with units, frequency and next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module2/exercises/02-mysql-slow.md</a:t>
            </a:r>
          </a:p>
          <a:p>
            <a:r>
              <a:t>Duration: 40</a:t>
            </a:r>
          </a:p>
          <a:p/>
          <a:p>
            <a:r>
              <a:t>Record the original logging configuration</a:t>
            </a:r>
          </a:p>
          <a:p>
            <a:r>
              <a:t>Enable a short capture window</a:t>
            </a:r>
          </a:p>
          <a:p>
            <a:r>
              <a:t>Open a fresh learner connection</a:t>
            </a:r>
          </a:p>
          <a:p>
            <a:r>
              <a:t>Create bounded slow-query evidence</a:t>
            </a:r>
          </a:p>
          <a:p>
            <a:r>
              <a:t>Inspect the capture and rank the fixture</a:t>
            </a:r>
          </a:p>
          <a:p>
            <a:r>
              <a:t>Restore the exact original values</a:t>
            </a:r>
          </a:p>
          <a:p>
            <a:r>
              <a:t>Transfer the method without copying</a:t>
            </a:r>
          </a:p>
          <a:p/>
          <a:p>
            <a:r>
              <a:t>INSTRUCTOR ANSWER: Elapsed time includes waiting and is not a CPU measurement. Use fresh sessions or an explicit session setting. Supplied evidence has a frequent player-report query and a rarer long query; compare total impact rather than selecting only the largest individual duration.</a:t>
            </a:r>
          </a:p>
          <a:p/>
          <a:p>
            <a:r>
              <a:t>Deliverable: A ranked slow-query table with units, frequency and next checks.</a:t>
            </a:r>
          </a:p>
          <a:p/>
          <a:p>
            <a:r>
              <a:t>FULL WORKSHEET COMMANDS:</a:t>
            </a:r>
          </a:p>
          <a:p>
            <a:r>
              <a:t>SET @saved_slow = @@GLOBAL.slow_query_log;</a:t>
            </a:r>
          </a:p>
          <a:p>
            <a:r>
              <a:t>SET @saved_threshold = @@GLOBAL.long_query_time;</a:t>
            </a:r>
          </a:p>
          <a:p>
            <a:r>
              <a:t>SET @saved_output = @@GLOBAL.log_output;</a:t>
            </a:r>
          </a:p>
          <a:p>
            <a:r>
              <a:t>SELECT @saved_slow, @saved_threshold, @saved_output;</a:t>
            </a:r>
          </a:p>
          <a:p>
            <a:r>
              <a:t>SHOW GLOBAL VARIABLES LIKE 'slow_query_log_file';</a:t>
            </a:r>
          </a:p>
          <a:p/>
          <a:p>
            <a:r>
              <a:t>SET GLOBAL log_output = 'FILE';</a:t>
            </a:r>
          </a:p>
          <a:p>
            <a:r>
              <a:t>SET GLOBAL slow_query_log = ON;</a:t>
            </a:r>
          </a:p>
          <a:p>
            <a:r>
              <a:t>SET GLOBAL long_query_time = 0.2;</a:t>
            </a:r>
          </a:p>
          <a:p/>
          <a:p>
            <a:r>
              <a:t>mysql --defaults-extra-file="$HOME/.support-lab.cnf"</a:t>
            </a:r>
          </a:p>
          <a:p/>
          <a:p>
            <a:r>
              <a:t>SET SESSION long_query_time = 0.2;</a:t>
            </a:r>
          </a:p>
          <a:p>
            <a:r>
              <a:t>SELECT SLEEP(0.3);</a:t>
            </a:r>
          </a:p>
          <a:p>
            <a:r>
              <a:t>SELECT COUNT(*), SUM(amount) FROM support_lab.transactions WHERE player_id=42;</a:t>
            </a:r>
          </a:p>
          <a:p>
            <a:r>
              <a:t>exit</a:t>
            </a:r>
          </a:p>
          <a:p/>
          <a:p>
            <a:r>
              <a:t>cd "$COURSE_ROOT"</a:t>
            </a:r>
          </a:p>
          <a:p>
            <a:r>
              <a:t>mysqldumpslow -s t -t 5 shared/fixtures/mysql-slow.log</a:t>
            </a:r>
          </a:p>
          <a:p>
            <a:r>
              <a:t>mysqldumpslow -s c -t 5 shared/fixtures/mysql-slow.log</a:t>
            </a:r>
          </a:p>
          <a:p/>
          <a:p>
            <a:r>
              <a:t>SET GLOBAL slow_query_log = @saved_slow;</a:t>
            </a:r>
          </a:p>
          <a:p>
            <a:r>
              <a:t>SET GLOBAL long_query_time = @saved_threshold;</a:t>
            </a:r>
          </a:p>
          <a:p>
            <a:r>
              <a:t>SET GLOBAL log_output = @saved_output;</a:t>
            </a:r>
          </a:p>
          <a:p>
            <a:r>
              <a:t>SELECT @@GLOBAL.slow_query_log, @@GLOBAL.long_query_time, @@GLOBAL.log_output;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module2/exercises/02-mysql-slow.md</a:t>
            </a:r>
          </a:p>
          <a:p>
            <a:r>
              <a:t>Duration: 40</a:t>
            </a:r>
          </a:p>
          <a:p/>
          <a:p>
            <a:r>
              <a:t>Record the original logging configuration</a:t>
            </a:r>
          </a:p>
          <a:p>
            <a:r>
              <a:t>Enable a short capture window</a:t>
            </a:r>
          </a:p>
          <a:p>
            <a:r>
              <a:t>Open a fresh learner connection</a:t>
            </a:r>
          </a:p>
          <a:p>
            <a:r>
              <a:t>Create bounded slow-query evidence</a:t>
            </a:r>
          </a:p>
          <a:p>
            <a:r>
              <a:t>Inspect the capture and rank the fixture</a:t>
            </a:r>
          </a:p>
          <a:p>
            <a:r>
              <a:t>Restore the exact original values</a:t>
            </a:r>
          </a:p>
          <a:p>
            <a:r>
              <a:t>Transfer the method without copying</a:t>
            </a:r>
          </a:p>
          <a:p/>
          <a:p>
            <a:r>
              <a:t>INSTRUCTOR ANSWER: Elapsed time includes waiting and is not a CPU measurement. Use fresh sessions or an explicit session setting. Supplied evidence has a frequent player-report query and a rarer long query; compare total impact rather than selecting only the largest individual duration.</a:t>
            </a:r>
          </a:p>
          <a:p/>
          <a:p>
            <a:r>
              <a:t>Deliverable: A ranked slow-query table with units, frequency and next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module2/exercises/02-mysql-slow.md</a:t>
            </a:r>
          </a:p>
          <a:p>
            <a:r>
              <a:t>Duration: 40</a:t>
            </a:r>
          </a:p>
          <a:p/>
          <a:p>
            <a:r>
              <a:t>Record the original logging configuration</a:t>
            </a:r>
          </a:p>
          <a:p>
            <a:r>
              <a:t>Enable a short capture window</a:t>
            </a:r>
          </a:p>
          <a:p>
            <a:r>
              <a:t>Open a fresh learner connection</a:t>
            </a:r>
          </a:p>
          <a:p>
            <a:r>
              <a:t>Create bounded slow-query evidence</a:t>
            </a:r>
          </a:p>
          <a:p>
            <a:r>
              <a:t>Inspect the capture and rank the fixture</a:t>
            </a:r>
          </a:p>
          <a:p>
            <a:r>
              <a:t>Restore the exact original values</a:t>
            </a:r>
          </a:p>
          <a:p>
            <a:r>
              <a:t>Transfer the method without copying</a:t>
            </a:r>
          </a:p>
          <a:p/>
          <a:p>
            <a:r>
              <a:t>INSTRUCTOR ANSWER: Elapsed time includes waiting and is not a CPU measurement. Use fresh sessions or an explicit session setting. Supplied evidence has a frequent player-report query and a rarer long query; compare total impact rather than selecting only the largest individual duration.</a:t>
            </a:r>
          </a:p>
          <a:p/>
          <a:p>
            <a:r>
              <a:t>Deliverable: A ranked slow-query table with units, frequency and next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module2/exercises/03-mysql-plans.md</a:t>
            </a:r>
          </a:p>
          <a:p>
            <a:r>
              <a:t>Duration: 35</a:t>
            </a:r>
          </a:p>
          <a:p/>
          <a:p>
            <a:r>
              <a:t>Connect and record the baseline</a:t>
            </a:r>
          </a:p>
          <a:p>
            <a:r>
              <a:t>Inspect data and the estimated plan</a:t>
            </a:r>
          </a:p>
          <a:p>
            <a:r>
              <a:t>Apply the approved training index</a:t>
            </a:r>
          </a:p>
          <a:p>
            <a:r>
              <a:t>Compare after-state without assuming faster timing</a:t>
            </a:r>
          </a:p>
          <a:p>
            <a:r>
              <a:t>Restore the exercise baseline</a:t>
            </a:r>
          </a:p>
          <a:p>
            <a:r>
              <a:t>Transfer the method without copying</a:t>
            </a:r>
          </a:p>
          <a:p/>
          <a:p>
            <a:r>
              <a:t>INSTRUCTOR ANSWER: Full scans may be optimal for small tables or low-selectivity predicates. Expressions, types, selectivity and statistics affect index use. LIMIT can still require scanning or sorting many rows. For 100,000 seeded rows, player 42 has 1,000 transactions totaling 10,000.00.</a:t>
            </a:r>
          </a:p>
          <a:p/>
          <a:p>
            <a:r>
              <a:t>Deliverable: A before/after plan comparison and an evidence-based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module2/exercises/03-mysql-plans.md</a:t>
            </a:r>
          </a:p>
          <a:p>
            <a:r>
              <a:t>Duration: 35</a:t>
            </a:r>
          </a:p>
          <a:p/>
          <a:p>
            <a:r>
              <a:t>Connect and record the baseline</a:t>
            </a:r>
          </a:p>
          <a:p>
            <a:r>
              <a:t>Inspect data and the estimated plan</a:t>
            </a:r>
          </a:p>
          <a:p>
            <a:r>
              <a:t>Apply the approved training index</a:t>
            </a:r>
          </a:p>
          <a:p>
            <a:r>
              <a:t>Compare after-state without assuming faster timing</a:t>
            </a:r>
          </a:p>
          <a:p>
            <a:r>
              <a:t>Restore the exercise baseline</a:t>
            </a:r>
          </a:p>
          <a:p>
            <a:r>
              <a:t>Transfer the method without copying</a:t>
            </a:r>
          </a:p>
          <a:p/>
          <a:p>
            <a:r>
              <a:t>INSTRUCTOR ANSWER: Full scans may be optimal for small tables or low-selectivity predicates. Expressions, types, selectivity and statistics affect index use. LIMIT can still require scanning or sorting many rows. For 100,000 seeded rows, player 42 has 1,000 transactions totaling 10,000.00.</a:t>
            </a:r>
          </a:p>
          <a:p/>
          <a:p>
            <a:r>
              <a:t>Deliverable: A before/after plan comparison and an evidence-based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module2/exercises/03-mysql-plans.md</a:t>
            </a:r>
          </a:p>
          <a:p>
            <a:r>
              <a:t>Duration: 35</a:t>
            </a:r>
          </a:p>
          <a:p/>
          <a:p>
            <a:r>
              <a:t>Connect and record the baseline</a:t>
            </a:r>
          </a:p>
          <a:p>
            <a:r>
              <a:t>Inspect data and the estimated plan</a:t>
            </a:r>
          </a:p>
          <a:p>
            <a:r>
              <a:t>Apply the approved training index</a:t>
            </a:r>
          </a:p>
          <a:p>
            <a:r>
              <a:t>Compare after-state without assuming faster timing</a:t>
            </a:r>
          </a:p>
          <a:p>
            <a:r>
              <a:t>Restore the exercise baseline</a:t>
            </a:r>
          </a:p>
          <a:p>
            <a:r>
              <a:t>Transfer the method without copying</a:t>
            </a:r>
          </a:p>
          <a:p/>
          <a:p>
            <a:r>
              <a:t>INSTRUCTOR ANSWER: Full scans may be optimal for small tables or low-selectivity predicates. Expressions, types, selectivity and statistics affect index use. LIMIT can still require scanning or sorting many rows. For 100,000 seeded rows, player 42 has 1,000 transactions totaling 10,000.00.</a:t>
            </a:r>
          </a:p>
          <a:p/>
          <a:p>
            <a:r>
              <a:t>Deliverable: A before/after plan comparison and an evidence-based recommendation.</a:t>
            </a:r>
          </a:p>
          <a:p/>
          <a:p>
            <a:r>
              <a:t>FULL WORKSHEET COMMANDS:</a:t>
            </a:r>
          </a:p>
          <a:p>
            <a:r>
              <a:t>mysql --defaults-extra-file="$HOME/.support-lab.cnf"</a:t>
            </a:r>
          </a:p>
          <a:p/>
          <a:p>
            <a:r>
              <a:t>USE support_lab;</a:t>
            </a:r>
          </a:p>
          <a:p>
            <a:r>
              <a:t>SELECT COUNT(*) FROM transactions;</a:t>
            </a:r>
          </a:p>
          <a:p>
            <a:r>
              <a:t>SHOW INDEX FROM transactions;</a:t>
            </a:r>
          </a:p>
          <a:p>
            <a:r>
              <a:t>EXPLAIN SELECT COUNT(*),SUM(amount) FROM transactions WHERE player_id=42;</a:t>
            </a:r>
          </a:p>
          <a:p>
            <a:r>
              <a:t>SELECT COUNT(*),SUM(amount) FROM transactions WHERE player_id=42;</a:t>
            </a:r>
          </a:p>
          <a:p/>
          <a:p>
            <a:r>
              <a:t>CREATE INDEX idx_transactions_player ON support_lab.transactions(player_id);</a:t>
            </a:r>
          </a:p>
          <a:p/>
          <a:p>
            <a:r>
              <a:t>EXPLAIN SELECT COUNT(*),SUM(amount) FROM transactions WHERE player_id=42;</a:t>
            </a:r>
          </a:p>
          <a:p>
            <a:r>
              <a:t>SELECT COUNT(*),SUM(amount) FROM transactions WHERE player_id=42;</a:t>
            </a:r>
          </a:p>
          <a:p>
            <a:r>
              <a:t>exit</a:t>
            </a:r>
          </a:p>
          <a:p/>
          <a:p>
            <a:r>
              <a:t>DROP INDEX idx_transactions_player ON support_lab.transactions;</a:t>
            </a:r>
          </a:p>
          <a:p>
            <a:r>
              <a:t>SHOW INDEX FROM support_lab.transactions;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module2/exercises/03-mysql-plans.md</a:t>
            </a:r>
          </a:p>
          <a:p>
            <a:r>
              <a:t>Duration: 35</a:t>
            </a:r>
          </a:p>
          <a:p/>
          <a:p>
            <a:r>
              <a:t>Connect and record the baseline</a:t>
            </a:r>
          </a:p>
          <a:p>
            <a:r>
              <a:t>Inspect data and the estimated plan</a:t>
            </a:r>
          </a:p>
          <a:p>
            <a:r>
              <a:t>Apply the approved training index</a:t>
            </a:r>
          </a:p>
          <a:p>
            <a:r>
              <a:t>Compare after-state without assuming faster timing</a:t>
            </a:r>
          </a:p>
          <a:p>
            <a:r>
              <a:t>Restore the exercise baseline</a:t>
            </a:r>
          </a:p>
          <a:p>
            <a:r>
              <a:t>Transfer the method without copying</a:t>
            </a:r>
          </a:p>
          <a:p/>
          <a:p>
            <a:r>
              <a:t>INSTRUCTOR ANSWER: Full scans may be optimal for small tables or low-selectivity predicates. Expressions, types, selectivity and statistics affect index use. LIMIT can still require scanning or sorting many rows. For 100,000 seeded rows, player 42 has 1,000 transactions totaling 10,000.00.</a:t>
            </a:r>
          </a:p>
          <a:p/>
          <a:p>
            <a:r>
              <a:t>Deliverable: A before/after plan comparison and an evidence-based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module2/exercises/03-mysql-plans.md</a:t>
            </a:r>
          </a:p>
          <a:p>
            <a:r>
              <a:t>Duration: 35</a:t>
            </a:r>
          </a:p>
          <a:p/>
          <a:p>
            <a:r>
              <a:t>Connect and record the baseline</a:t>
            </a:r>
          </a:p>
          <a:p>
            <a:r>
              <a:t>Inspect data and the estimated plan</a:t>
            </a:r>
          </a:p>
          <a:p>
            <a:r>
              <a:t>Apply the approved training index</a:t>
            </a:r>
          </a:p>
          <a:p>
            <a:r>
              <a:t>Compare after-state without assuming faster timing</a:t>
            </a:r>
          </a:p>
          <a:p>
            <a:r>
              <a:t>Restore the exercise baseline</a:t>
            </a:r>
          </a:p>
          <a:p>
            <a:r>
              <a:t>Transfer the method without copying</a:t>
            </a:r>
          </a:p>
          <a:p/>
          <a:p>
            <a:r>
              <a:t>INSTRUCTOR ANSWER: Full scans may be optimal for small tables or low-selectivity predicates. Expressions, types, selectivity and statistics affect index use. LIMIT can still require scanning or sorting many rows. For 100,000 seeded rows, player 42 has 1,000 transactions totaling 10,000.00.</a:t>
            </a:r>
          </a:p>
          <a:p/>
          <a:p>
            <a:r>
              <a:t>Deliverable: A before/after plan comparison and an evidence-based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module2/exercises/04-mysql-locks.md</a:t>
            </a:r>
          </a:p>
          <a:p>
            <a:r>
              <a:t>Duration: 40</a:t>
            </a:r>
          </a:p>
          <a:p/>
          <a:p>
            <a:r>
              <a:t>Open all three MySQL sessions</a:t>
            </a:r>
          </a:p>
          <a:p>
            <a:r>
              <a:t>Acquire the first lock</a:t>
            </a:r>
          </a:p>
          <a:p>
            <a:r>
              <a:t>Create a bounded waiter</a:t>
            </a:r>
          </a:p>
          <a:p>
            <a:r>
              <a:t>Capture the wait relationship</a:t>
            </a:r>
          </a:p>
          <a:p>
            <a:r>
              <a:t>Release both transactions</a:t>
            </a:r>
          </a:p>
          <a:p>
            <a:r>
              <a:t>Build the deadlock in a precise order</a:t>
            </a:r>
          </a:p>
          <a:p>
            <a:r>
              <a:t>Acquire the second lock</a:t>
            </a:r>
          </a:p>
          <a:p>
            <a:r>
              <a:t>Make A request B’s row</a:t>
            </a:r>
          </a:p>
          <a:p>
            <a:r>
              <a:t>Complete the cycle</a:t>
            </a:r>
          </a:p>
          <a:p>
            <a:r>
              <a:t>Capture the deadlock and recover</a:t>
            </a:r>
          </a:p>
          <a:p>
            <a:r>
              <a:t>Verify restored data</a:t>
            </a:r>
          </a:p>
          <a:p>
            <a:r>
              <a:t>Transfer the method without copying</a:t>
            </a:r>
          </a:p>
          <a:p/>
          <a:p>
            <a:r>
              <a:t>INSTRUCTOR ANSWER: Killing a waiter does not release locks held by the blocker. Deadlock detection rolls back a victim; the survivor may still need an explicit rollback in this exercise. Retry only a complete safe transaction, with bounds/backoff and idempotency considerations.</a:t>
            </a:r>
          </a:p>
          <a:p/>
          <a:p>
            <a:r>
              <a:t>Deliverable: A lock diagram, deadlock interpretation and verified cleanup.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module2/exercises/04-mysql-locks.md</a:t>
            </a:r>
          </a:p>
          <a:p>
            <a:r>
              <a:t>Duration: 40</a:t>
            </a:r>
          </a:p>
          <a:p/>
          <a:p>
            <a:r>
              <a:t>Open all three MySQL sessions</a:t>
            </a:r>
          </a:p>
          <a:p>
            <a:r>
              <a:t>Acquire the first lock</a:t>
            </a:r>
          </a:p>
          <a:p>
            <a:r>
              <a:t>Create a bounded waiter</a:t>
            </a:r>
          </a:p>
          <a:p>
            <a:r>
              <a:t>Capture the wait relationship</a:t>
            </a:r>
          </a:p>
          <a:p>
            <a:r>
              <a:t>Release both transactions</a:t>
            </a:r>
          </a:p>
          <a:p>
            <a:r>
              <a:t>Build the deadlock in a precise order</a:t>
            </a:r>
          </a:p>
          <a:p>
            <a:r>
              <a:t>Acquire the second lock</a:t>
            </a:r>
          </a:p>
          <a:p>
            <a:r>
              <a:t>Make A request B’s row</a:t>
            </a:r>
          </a:p>
          <a:p>
            <a:r>
              <a:t>Complete the cycle</a:t>
            </a:r>
          </a:p>
          <a:p>
            <a:r>
              <a:t>Capture the deadlock and recover</a:t>
            </a:r>
          </a:p>
          <a:p>
            <a:r>
              <a:t>Verify restored data</a:t>
            </a:r>
          </a:p>
          <a:p>
            <a:r>
              <a:t>Transfer the method without copying</a:t>
            </a:r>
          </a:p>
          <a:p/>
          <a:p>
            <a:r>
              <a:t>INSTRUCTOR ANSWER: Killing a waiter does not release locks held by the blocker. Deadlock detection rolls back a victim; the survivor may still need an explicit rollback in this exercise. Retry only a complete safe transaction, with bounds/backoff and idempotency considerations.</a:t>
            </a:r>
          </a:p>
          <a:p/>
          <a:p>
            <a:r>
              <a:t>Deliverable: A lock diagram, deadlock interpretation and verified cleanup.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module2/exercises/04-mysql-locks.md</a:t>
            </a:r>
          </a:p>
          <a:p>
            <a:r>
              <a:t>Duration: 40</a:t>
            </a:r>
          </a:p>
          <a:p/>
          <a:p>
            <a:r>
              <a:t>Open all three MySQL sessions</a:t>
            </a:r>
          </a:p>
          <a:p>
            <a:r>
              <a:t>Acquire the first lock</a:t>
            </a:r>
          </a:p>
          <a:p>
            <a:r>
              <a:t>Create a bounded waiter</a:t>
            </a:r>
          </a:p>
          <a:p>
            <a:r>
              <a:t>Capture the wait relationship</a:t>
            </a:r>
          </a:p>
          <a:p>
            <a:r>
              <a:t>Release both transactions</a:t>
            </a:r>
          </a:p>
          <a:p>
            <a:r>
              <a:t>Build the deadlock in a precise order</a:t>
            </a:r>
          </a:p>
          <a:p>
            <a:r>
              <a:t>Acquire the second lock</a:t>
            </a:r>
          </a:p>
          <a:p>
            <a:r>
              <a:t>Make A request B’s row</a:t>
            </a:r>
          </a:p>
          <a:p>
            <a:r>
              <a:t>Complete the cycle</a:t>
            </a:r>
          </a:p>
          <a:p>
            <a:r>
              <a:t>Capture the deadlock and recover</a:t>
            </a:r>
          </a:p>
          <a:p>
            <a:r>
              <a:t>Verify restored data</a:t>
            </a:r>
          </a:p>
          <a:p>
            <a:r>
              <a:t>Transfer the method without copying</a:t>
            </a:r>
          </a:p>
          <a:p/>
          <a:p>
            <a:r>
              <a:t>INSTRUCTOR ANSWER: Killing a waiter does not release locks held by the blocker. Deadlock detection rolls back a victim; the survivor may still need an explicit rollback in this exercise. Retry only a complete safe transaction, with bounds/backoff and idempotency considerations.</a:t>
            </a:r>
          </a:p>
          <a:p/>
          <a:p>
            <a:r>
              <a:t>Deliverable: A lock diagram, deadlock interpretation and verified cleanup.</a:t>
            </a:r>
          </a:p>
          <a:p/>
          <a:p>
            <a:r>
              <a:t>FULL WORKSHEET COMMANDS:</a:t>
            </a:r>
          </a:p>
          <a:p>
            <a:r>
              <a:t>mysql --defaults-extra-file="$HOME/.support-lab.cnf" support_lab</a:t>
            </a:r>
          </a:p>
          <a:p/>
          <a:p>
            <a:r>
              <a:t>SELECT CONNECTION_ID();</a:t>
            </a:r>
          </a:p>
          <a:p>
            <a:r>
              <a:t>START TRANSACTION;</a:t>
            </a:r>
          </a:p>
          <a:p>
            <a:r>
              <a:t>UPDATE players SET points=points+1 WHERE id=1;</a:t>
            </a:r>
          </a:p>
          <a:p/>
          <a:p>
            <a:r>
              <a:t>SET SESSION innodb_lock_wait_timeout=30;</a:t>
            </a:r>
          </a:p>
          <a:p>
            <a:r>
              <a:t>START TRANSACTION;</a:t>
            </a:r>
          </a:p>
          <a:p>
            <a:r>
              <a:t>UPDATE players SET points=points+1 WHERE id=1;</a:t>
            </a:r>
          </a:p>
          <a:p/>
          <a:p>
            <a:r>
              <a:t>SHOW FULL PROCESSLIST;</a:t>
            </a:r>
          </a:p>
          <a:p>
            <a:r>
              <a:t>SELECT * FROM performance_schema.data_lock_waits;</a:t>
            </a:r>
          </a:p>
          <a:p/>
          <a:p>
            <a:r>
              <a:t>ROLLBACK;</a:t>
            </a:r>
          </a:p>
          <a:p/>
          <a:p>
            <a:r>
              <a:t>START TRANSACTION;</a:t>
            </a:r>
          </a:p>
          <a:p>
            <a:r>
              <a:t>UPDATE players SET points=points+1 WHERE id=1;</a:t>
            </a:r>
          </a:p>
          <a:p/>
          <a:p>
            <a:r>
              <a:t>START TRANSACTION;</a:t>
            </a:r>
          </a:p>
          <a:p>
            <a:r>
              <a:t>UPDATE players SET points=points+1 WHERE id=2;</a:t>
            </a:r>
          </a:p>
          <a:p/>
          <a:p>
            <a:r>
              <a:t>UPDATE players SET points=points+1 WHERE id=2;</a:t>
            </a:r>
          </a:p>
          <a:p/>
          <a:p>
            <a:r>
              <a:t>UPDATE players SET points=points+1 WHERE id=1;</a:t>
            </a:r>
          </a:p>
          <a:p/>
          <a:p>
            <a:r>
              <a:t>SHOW ENGINE INNODB STATUS\G</a:t>
            </a:r>
          </a:p>
          <a:p/>
          <a:p>
            <a:r>
              <a:t>SELECT id,points FROM players ORDER BY id;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module2/exercises/04-mysql-locks.md</a:t>
            </a:r>
          </a:p>
          <a:p>
            <a:r>
              <a:t>Duration: 40</a:t>
            </a:r>
          </a:p>
          <a:p/>
          <a:p>
            <a:r>
              <a:t>Open all three MySQL sessions</a:t>
            </a:r>
          </a:p>
          <a:p>
            <a:r>
              <a:t>Acquire the first lock</a:t>
            </a:r>
          </a:p>
          <a:p>
            <a:r>
              <a:t>Create a bounded waiter</a:t>
            </a:r>
          </a:p>
          <a:p>
            <a:r>
              <a:t>Capture the wait relationship</a:t>
            </a:r>
          </a:p>
          <a:p>
            <a:r>
              <a:t>Release both transactions</a:t>
            </a:r>
          </a:p>
          <a:p>
            <a:r>
              <a:t>Build the deadlock in a precise order</a:t>
            </a:r>
          </a:p>
          <a:p>
            <a:r>
              <a:t>Acquire the second lock</a:t>
            </a:r>
          </a:p>
          <a:p>
            <a:r>
              <a:t>Make A request B’s row</a:t>
            </a:r>
          </a:p>
          <a:p>
            <a:r>
              <a:t>Complete the cycle</a:t>
            </a:r>
          </a:p>
          <a:p>
            <a:r>
              <a:t>Capture the deadlock and recover</a:t>
            </a:r>
          </a:p>
          <a:p>
            <a:r>
              <a:t>Verify restored data</a:t>
            </a:r>
          </a:p>
          <a:p>
            <a:r>
              <a:t>Transfer the method without copying</a:t>
            </a:r>
          </a:p>
          <a:p/>
          <a:p>
            <a:r>
              <a:t>INSTRUCTOR ANSWER: Killing a waiter does not release locks held by the blocker. Deadlock detection rolls back a victim; the survivor may still need an explicit rollback in this exercise. Retry only a complete safe transaction, with bounds/backoff and idempotency considerations.</a:t>
            </a:r>
          </a:p>
          <a:p/>
          <a:p>
            <a:r>
              <a:t>Deliverable: A lock diagram, deadlock interpretation and verified cleanup.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module2/exercises/04-mysql-locks.md</a:t>
            </a:r>
          </a:p>
          <a:p>
            <a:r>
              <a:t>Duration: 40</a:t>
            </a:r>
          </a:p>
          <a:p/>
          <a:p>
            <a:r>
              <a:t>Open all three MySQL sessions</a:t>
            </a:r>
          </a:p>
          <a:p>
            <a:r>
              <a:t>Acquire the first lock</a:t>
            </a:r>
          </a:p>
          <a:p>
            <a:r>
              <a:t>Create a bounded waiter</a:t>
            </a:r>
          </a:p>
          <a:p>
            <a:r>
              <a:t>Capture the wait relationship</a:t>
            </a:r>
          </a:p>
          <a:p>
            <a:r>
              <a:t>Release both transactions</a:t>
            </a:r>
          </a:p>
          <a:p>
            <a:r>
              <a:t>Build the deadlock in a precise order</a:t>
            </a:r>
          </a:p>
          <a:p>
            <a:r>
              <a:t>Acquire the second lock</a:t>
            </a:r>
          </a:p>
          <a:p>
            <a:r>
              <a:t>Make A request B’s row</a:t>
            </a:r>
          </a:p>
          <a:p>
            <a:r>
              <a:t>Complete the cycle</a:t>
            </a:r>
          </a:p>
          <a:p>
            <a:r>
              <a:t>Capture the deadlock and recover</a:t>
            </a:r>
          </a:p>
          <a:p>
            <a:r>
              <a:t>Verify restored data</a:t>
            </a:r>
          </a:p>
          <a:p>
            <a:r>
              <a:t>Transfer the method without copying</a:t>
            </a:r>
          </a:p>
          <a:p/>
          <a:p>
            <a:r>
              <a:t>INSTRUCTOR ANSWER: Killing a waiter does not release locks held by the blocker. Deadlock detection rolls back a victim; the survivor may still need an explicit rollback in this exercise. Retry only a complete safe transaction, with bounds/backoff and idempotency considerations.</a:t>
            </a:r>
          </a:p>
          <a:p/>
          <a:p>
            <a:r>
              <a:t>Deliverable: A lock diagram, deadlock interpretation and verified cleanup.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module2/exercises/05-replication.md</a:t>
            </a:r>
          </a:p>
          <a:p>
            <a:r>
              <a:t>Duration: 15</a:t>
            </a:r>
          </a:p>
          <a:p/>
          <a:p>
            <a:r>
              <a:t>Read the fixture and record provenance</a:t>
            </a:r>
          </a:p>
          <a:p>
            <a:r>
              <a:t>Build a freshness table</a:t>
            </a:r>
          </a:p>
          <a:p>
            <a:r>
              <a:t>Choose the next investigation</a:t>
            </a:r>
          </a:p>
          <a:p>
            <a:r>
              <a:t>Transfer the method without copying</a:t>
            </a:r>
          </a:p>
          <a:p/>
          <a:p>
            <a:r>
              <a:t>INSTRUCTOR ANSWER: The synthetic replica receiver is running but SQL applier stopped with duplicate-key error 1062. NULL lag is not zero. Investigate consistency and cause before repair; temporary primary reads require capacity and business approval.</a:t>
            </a:r>
          </a:p>
          <a:p/>
          <a:p>
            <a:r>
              <a:t>Deliverable: A replication escalation note with evidence and routing tradeoffs.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module2/exercises/05-replication.md</a:t>
            </a:r>
          </a:p>
          <a:p>
            <a:r>
              <a:t>Duration: 15</a:t>
            </a:r>
          </a:p>
          <a:p/>
          <a:p>
            <a:r>
              <a:t>Read the fixture and record provenance</a:t>
            </a:r>
          </a:p>
          <a:p>
            <a:r>
              <a:t>Build a freshness table</a:t>
            </a:r>
          </a:p>
          <a:p>
            <a:r>
              <a:t>Choose the next investigation</a:t>
            </a:r>
          </a:p>
          <a:p>
            <a:r>
              <a:t>Transfer the method without copying</a:t>
            </a:r>
          </a:p>
          <a:p/>
          <a:p>
            <a:r>
              <a:t>INSTRUCTOR ANSWER: The synthetic replica receiver is running but SQL applier stopped with duplicate-key error 1062. NULL lag is not zero. Investigate consistency and cause before repair; temporary primary reads require capacity and business approval.</a:t>
            </a:r>
          </a:p>
          <a:p/>
          <a:p>
            <a:r>
              <a:t>Deliverable: A replication escalation note with evidence and routing tradeoffs.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module2/exercises/05-replication.md</a:t>
            </a:r>
          </a:p>
          <a:p>
            <a:r>
              <a:t>Duration: 15</a:t>
            </a:r>
          </a:p>
          <a:p/>
          <a:p>
            <a:r>
              <a:t>Read the fixture and record provenance</a:t>
            </a:r>
          </a:p>
          <a:p>
            <a:r>
              <a:t>Build a freshness table</a:t>
            </a:r>
          </a:p>
          <a:p>
            <a:r>
              <a:t>Choose the next investigation</a:t>
            </a:r>
          </a:p>
          <a:p>
            <a:r>
              <a:t>Transfer the method without copying</a:t>
            </a:r>
          </a:p>
          <a:p/>
          <a:p>
            <a:r>
              <a:t>INSTRUCTOR ANSWER: The synthetic replica receiver is running but SQL applier stopped with duplicate-key error 1062. NULL lag is not zero. Investigate consistency and cause before repair; temporary primary reads require capacity and business approval.</a:t>
            </a:r>
          </a:p>
          <a:p/>
          <a:p>
            <a:r>
              <a:t>Deliverable: A replication escalation note with evidence and routing tradeoffs.</a:t>
            </a:r>
          </a:p>
          <a:p/>
          <a:p>
            <a:r>
              <a:t>FULL WORKSHEET COMMANDS:</a:t>
            </a:r>
          </a:p>
          <a:p>
            <a:r>
              <a:t>cd "$COURSE_ROOT"</a:t>
            </a:r>
          </a:p>
          <a:p>
            <a:r>
              <a:t>cat shared/fixtures/replication.json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module2/exercises/05-replication.md</a:t>
            </a:r>
          </a:p>
          <a:p>
            <a:r>
              <a:t>Duration: 15</a:t>
            </a:r>
          </a:p>
          <a:p/>
          <a:p>
            <a:r>
              <a:t>Read the fixture and record provenance</a:t>
            </a:r>
          </a:p>
          <a:p>
            <a:r>
              <a:t>Build a freshness table</a:t>
            </a:r>
          </a:p>
          <a:p>
            <a:r>
              <a:t>Choose the next investigation</a:t>
            </a:r>
          </a:p>
          <a:p>
            <a:r>
              <a:t>Transfer the method without copying</a:t>
            </a:r>
          </a:p>
          <a:p/>
          <a:p>
            <a:r>
              <a:t>INSTRUCTOR ANSWER: The synthetic replica receiver is running but SQL applier stopped with duplicate-key error 1062. NULL lag is not zero. Investigate consistency and cause before repair; temporary primary reads require capacity and business approval.</a:t>
            </a:r>
          </a:p>
          <a:p/>
          <a:p>
            <a:r>
              <a:t>Deliverable: A replication escalation note with evidence and routing tradeoffs.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module2/exercises/05-replication.md</a:t>
            </a:r>
          </a:p>
          <a:p>
            <a:r>
              <a:t>Duration: 15</a:t>
            </a:r>
          </a:p>
          <a:p/>
          <a:p>
            <a:r>
              <a:t>Read the fixture and record provenance</a:t>
            </a:r>
          </a:p>
          <a:p>
            <a:r>
              <a:t>Build a freshness table</a:t>
            </a:r>
          </a:p>
          <a:p>
            <a:r>
              <a:t>Choose the next investigation</a:t>
            </a:r>
          </a:p>
          <a:p>
            <a:r>
              <a:t>Transfer the method without copying</a:t>
            </a:r>
          </a:p>
          <a:p/>
          <a:p>
            <a:r>
              <a:t>INSTRUCTOR ANSWER: The synthetic replica receiver is running but SQL applier stopped with duplicate-key error 1062. NULL lag is not zero. Investigate consistency and cause before repair; temporary primary reads require capacity and business approval.</a:t>
            </a:r>
          </a:p>
          <a:p/>
          <a:p>
            <a:r>
              <a:t>Deliverable: A replication escalation note with evidence and routing tradeoffs.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module2/exercises/06-sqlserver-baseline.md</a:t>
            </a:r>
          </a:p>
          <a:p>
            <a:r>
              <a:t>Duration: 40</a:t>
            </a:r>
          </a:p>
          <a:p/>
          <a:p>
            <a:r>
              <a:t>Set connection details in the client shell</a:t>
            </a:r>
          </a:p>
          <a:p>
            <a:r>
              <a:t>Confirm identity and database access</a:t>
            </a:r>
          </a:p>
          <a:p>
            <a:r>
              <a:t>Capture baseline diagnostics</a:t>
            </a:r>
          </a:p>
          <a:p>
            <a:r>
              <a:t>Observe a bounded workload</a:t>
            </a:r>
          </a:p>
          <a:p>
            <a:r>
              <a:t>Compute interval wait deltas</a:t>
            </a:r>
          </a:p>
          <a:p>
            <a:r>
              <a:t>Transfer the method without copying</a:t>
            </a:r>
          </a:p>
          <a:p/>
          <a:p>
            <a:r>
              <a:t>INSTRUCTOR ANSWER: A sleeping session may hold an uncommitted transaction. Cached totals aggregate executions since compilation and do not necessarily describe this incident. Inspect execution_count, interval evidence and plans together. In the fixture LCK_M_X grows 12,000 ms, SOS_SCHEDULER_YIELD 1,000 ms, and PAGEIOLATCH_SH 200 ms.</a:t>
            </a:r>
          </a:p>
          <a:p/>
          <a:p>
            <a:r>
              <a:t>Deliverable: A SQL Server baseline and a wait-delta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module2/exercises/06-sqlserver-baseline.md</a:t>
            </a:r>
          </a:p>
          <a:p>
            <a:r>
              <a:t>Duration: 40</a:t>
            </a:r>
          </a:p>
          <a:p/>
          <a:p>
            <a:r>
              <a:t>Set connection details in the client shell</a:t>
            </a:r>
          </a:p>
          <a:p>
            <a:r>
              <a:t>Confirm identity and database access</a:t>
            </a:r>
          </a:p>
          <a:p>
            <a:r>
              <a:t>Capture baseline diagnostics</a:t>
            </a:r>
          </a:p>
          <a:p>
            <a:r>
              <a:t>Observe a bounded workload</a:t>
            </a:r>
          </a:p>
          <a:p>
            <a:r>
              <a:t>Compute interval wait deltas</a:t>
            </a:r>
          </a:p>
          <a:p>
            <a:r>
              <a:t>Transfer the method without copying</a:t>
            </a:r>
          </a:p>
          <a:p/>
          <a:p>
            <a:r>
              <a:t>INSTRUCTOR ANSWER: A sleeping session may hold an uncommitted transaction. Cached totals aggregate executions since compilation and do not necessarily describe this incident. Inspect execution_count, interval evidence and plans together. In the fixture LCK_M_X grows 12,000 ms, SOS_SCHEDULER_YIELD 1,000 ms, and PAGEIOLATCH_SH 200 ms.</a:t>
            </a:r>
          </a:p>
          <a:p/>
          <a:p>
            <a:r>
              <a:t>Deliverable: A SQL Server baseline and a wait-delta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module2/exercises/06-sqlserver-baseline.md</a:t>
            </a:r>
          </a:p>
          <a:p>
            <a:r>
              <a:t>Duration: 40</a:t>
            </a:r>
          </a:p>
          <a:p/>
          <a:p>
            <a:r>
              <a:t>Set connection details in the client shell</a:t>
            </a:r>
          </a:p>
          <a:p>
            <a:r>
              <a:t>Confirm identity and database access</a:t>
            </a:r>
          </a:p>
          <a:p>
            <a:r>
              <a:t>Capture baseline diagnostics</a:t>
            </a:r>
          </a:p>
          <a:p>
            <a:r>
              <a:t>Observe a bounded workload</a:t>
            </a:r>
          </a:p>
          <a:p>
            <a:r>
              <a:t>Compute interval wait deltas</a:t>
            </a:r>
          </a:p>
          <a:p>
            <a:r>
              <a:t>Transfer the method without copying</a:t>
            </a:r>
          </a:p>
          <a:p/>
          <a:p>
            <a:r>
              <a:t>INSTRUCTOR ANSWER: A sleeping session may hold an uncommitted transaction. Cached totals aggregate executions since compilation and do not necessarily describe this incident. Inspect execution_count, interval evidence and plans together. In the fixture LCK_M_X grows 12,000 ms, SOS_SCHEDULER_YIELD 1,000 ms, and PAGEIOLATCH_SH 200 ms.</a:t>
            </a:r>
          </a:p>
          <a:p/>
          <a:p>
            <a:r>
              <a:t>Deliverable: A SQL Server baseline and a wait-delta interpretation.</a:t>
            </a:r>
          </a:p>
          <a:p/>
          <a:p>
            <a:r>
              <a:t>FULL WORKSHEET COMMANDS:</a:t>
            </a:r>
          </a:p>
          <a:p>
            <a:r>
              <a:t>read -r -p 'SQL Server hostname or private IP: ' SQL_HOST</a:t>
            </a:r>
          </a:p>
          <a:p>
            <a:r>
              <a:t>read -r -p 'Assigned SQL login: ' SQL_LOGIN</a:t>
            </a:r>
          </a:p>
          <a:p>
            <a:r>
              <a:t>read -r -s -p 'SQL password: ' SQLCMDPASSWORD</a:t>
            </a:r>
          </a:p>
          <a:p>
            <a:r>
              <a:t>printf '\n'</a:t>
            </a:r>
          </a:p>
          <a:p>
            <a:r>
              <a:t>export SQL_HOST SQL_LOGIN SQLCMDPASSWORD</a:t>
            </a:r>
          </a:p>
          <a:p>
            <a:r>
              <a:t>SQL_TLS_ARGS=()</a:t>
            </a:r>
          </a:p>
          <a:p>
            <a:r>
              <a:t>command -v sqlcmd</a:t>
            </a:r>
          </a:p>
          <a:p/>
          <a:p>
            <a:r>
              <a:t>sqlcmd "${SQL_TLS_ARGS[@]}" -S "tcp:$SQL_HOST,1433" -U "$SQL_LOGIN" -d SupportLab -b -Q 'SELECT SYSUTCDATETIME(), SUSER_SNAME(), @@VERSION;'</a:t>
            </a:r>
          </a:p>
          <a:p/>
          <a:p>
            <a:r>
              <a:t>cd "$COURSE_ROOT"</a:t>
            </a:r>
          </a:p>
          <a:p>
            <a:r>
              <a:t>sqlcmd "${SQL_TLS_ARGS[@]}" -S "tcp:$SQL_HOST,1433" -U "$SQL_LOGIN" -d SupportLab -b -i shared/sql/sqlserver/diagnostics.sql -o "$HOME/support-lab/evidence/m2-06/sql-baseline.txt"</a:t>
            </a:r>
          </a:p>
          <a:p>
            <a:r>
              <a:t>less "$HOME/support-lab/evidence/m2-06/sql-baseline.txt"</a:t>
            </a:r>
          </a:p>
          <a:p/>
          <a:p>
            <a:r>
              <a:t>cd "$COURSE_ROOT"</a:t>
            </a:r>
          </a:p>
          <a:p>
            <a:r>
              <a:t>sqlcmd "${SQL_TLS_ARGS[@]}" -S "tcp:$SQL_HOST,1433" -U "$SQL_LOGIN" -d SupportLab -b -i shared/sql/sqlserver/workload.sql</a:t>
            </a:r>
          </a:p>
          <a:p/>
          <a:p>
            <a:r>
              <a:t>cd "$COURSE_ROOT"</a:t>
            </a:r>
          </a:p>
          <a:p>
            <a:r>
              <a:t>cat shared/fixtures/sqlserver-waits.csv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module2/exercises/06-sqlserver-baseline.md</a:t>
            </a:r>
          </a:p>
          <a:p>
            <a:r>
              <a:t>Duration: 40</a:t>
            </a:r>
          </a:p>
          <a:p/>
          <a:p>
            <a:r>
              <a:t>Set connection details in the client shell</a:t>
            </a:r>
          </a:p>
          <a:p>
            <a:r>
              <a:t>Confirm identity and database access</a:t>
            </a:r>
          </a:p>
          <a:p>
            <a:r>
              <a:t>Capture baseline diagnostics</a:t>
            </a:r>
          </a:p>
          <a:p>
            <a:r>
              <a:t>Observe a bounded workload</a:t>
            </a:r>
          </a:p>
          <a:p>
            <a:r>
              <a:t>Compute interval wait deltas</a:t>
            </a:r>
          </a:p>
          <a:p>
            <a:r>
              <a:t>Transfer the method without copying</a:t>
            </a:r>
          </a:p>
          <a:p/>
          <a:p>
            <a:r>
              <a:t>INSTRUCTOR ANSWER: A sleeping session may hold an uncommitted transaction. Cached totals aggregate executions since compilation and do not necessarily describe this incident. Inspect execution_count, interval evidence and plans together. In the fixture LCK_M_X grows 12,000 ms, SOS_SCHEDULER_YIELD 1,000 ms, and PAGEIOLATCH_SH 200 ms.</a:t>
            </a:r>
          </a:p>
          <a:p/>
          <a:p>
            <a:r>
              <a:t>Deliverable: A SQL Server baseline and a wait-delta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module2/exercises/06-sqlserver-baseline.md</a:t>
            </a:r>
          </a:p>
          <a:p>
            <a:r>
              <a:t>Duration: 40</a:t>
            </a:r>
          </a:p>
          <a:p/>
          <a:p>
            <a:r>
              <a:t>Set connection details in the client shell</a:t>
            </a:r>
          </a:p>
          <a:p>
            <a:r>
              <a:t>Confirm identity and database access</a:t>
            </a:r>
          </a:p>
          <a:p>
            <a:r>
              <a:t>Capture baseline diagnostics</a:t>
            </a:r>
          </a:p>
          <a:p>
            <a:r>
              <a:t>Observe a bounded workload</a:t>
            </a:r>
          </a:p>
          <a:p>
            <a:r>
              <a:t>Compute interval wait deltas</a:t>
            </a:r>
          </a:p>
          <a:p>
            <a:r>
              <a:t>Transfer the method without copying</a:t>
            </a:r>
          </a:p>
          <a:p/>
          <a:p>
            <a:r>
              <a:t>INSTRUCTOR ANSWER: A sleeping session may hold an uncommitted transaction. Cached totals aggregate executions since compilation and do not necessarily describe this incident. Inspect execution_count, interval evidence and plans together. In the fixture LCK_M_X grows 12,000 ms, SOS_SCHEDULER_YIELD 1,000 ms, and PAGEIOLATCH_SH 200 ms.</a:t>
            </a:r>
          </a:p>
          <a:p/>
          <a:p>
            <a:r>
              <a:t>Deliverable: A SQL Server baseline and a wait-delta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module2/exercises/07-sqlserver-blocking-plans-jobs.md</a:t>
            </a:r>
          </a:p>
          <a:p>
            <a:r>
              <a:t>Duration: 40</a:t>
            </a:r>
          </a:p>
          <a:p/>
          <a:p>
            <a:r>
              <a:t>Open three SQL client sessions</a:t>
            </a:r>
          </a:p>
          <a:p>
            <a:r>
              <a:t>Prepare three independent query windows</a:t>
            </a:r>
          </a:p>
          <a:p>
            <a:r>
              <a:t>Acquire a lock in A</a:t>
            </a:r>
          </a:p>
          <a:p>
            <a:r>
              <a:t>Create a bounded wait in B</a:t>
            </a:r>
          </a:p>
          <a:p>
            <a:r>
              <a:t>Observe the blocker</a:t>
            </a:r>
          </a:p>
          <a:p>
            <a:r>
              <a:t>Release A’s transaction</a:t>
            </a:r>
          </a:p>
          <a:p>
            <a:r>
              <a:t>Release B and verify data</a:t>
            </a:r>
          </a:p>
          <a:p>
            <a:r>
              <a:t>Live extension — Compare a controlled index change</a:t>
            </a:r>
          </a:p>
          <a:p>
            <a:r>
              <a:t>Live extension — Start the intentional job failure</a:t>
            </a:r>
          </a:p>
          <a:p>
            <a:r>
              <a:t>Live extension — Read job history with the learner login</a:t>
            </a:r>
          </a:p>
          <a:p>
            <a:r>
              <a:t>Compare captured Query Store and job evidence</a:t>
            </a:r>
          </a:p>
          <a:p>
            <a:r>
              <a:t>Transfer the method without copying</a:t>
            </a:r>
          </a:p>
          <a:p/>
          <a:p>
            <a:r>
              <a:t>INSTRUCTOR ANSWER: Compare runtime evidence across comparable intervals and row counts. Plan forcing needs validation and rollback. The fixture shows query 17 changing from plan 3 to 8 with higher duration/reads after deployment, while the job failure is a separate permission issue. The live training job deliberately throws a synthetic error.</a:t>
            </a:r>
          </a:p>
          <a:p/>
          <a:p>
            <a:r>
              <a:t>Deliverable: A blocking worksheet, plan comparison and job-failure escalation.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module2/exercises/07-sqlserver-blocking-plans-jobs.md</a:t>
            </a:r>
          </a:p>
          <a:p>
            <a:r>
              <a:t>Duration: 40</a:t>
            </a:r>
          </a:p>
          <a:p/>
          <a:p>
            <a:r>
              <a:t>Open three SQL client sessions</a:t>
            </a:r>
          </a:p>
          <a:p>
            <a:r>
              <a:t>Prepare three independent query windows</a:t>
            </a:r>
          </a:p>
          <a:p>
            <a:r>
              <a:t>Acquire a lock in A</a:t>
            </a:r>
          </a:p>
          <a:p>
            <a:r>
              <a:t>Create a bounded wait in B</a:t>
            </a:r>
          </a:p>
          <a:p>
            <a:r>
              <a:t>Observe the blocker</a:t>
            </a:r>
          </a:p>
          <a:p>
            <a:r>
              <a:t>Release A’s transaction</a:t>
            </a:r>
          </a:p>
          <a:p>
            <a:r>
              <a:t>Release B and verify data</a:t>
            </a:r>
          </a:p>
          <a:p>
            <a:r>
              <a:t>Live extension — Compare a controlled index change</a:t>
            </a:r>
          </a:p>
          <a:p>
            <a:r>
              <a:t>Live extension — Start the intentional job failure</a:t>
            </a:r>
          </a:p>
          <a:p>
            <a:r>
              <a:t>Live extension — Read job history with the learner login</a:t>
            </a:r>
          </a:p>
          <a:p>
            <a:r>
              <a:t>Compare captured Query Store and job evidence</a:t>
            </a:r>
          </a:p>
          <a:p>
            <a:r>
              <a:t>Transfer the method without copying</a:t>
            </a:r>
          </a:p>
          <a:p/>
          <a:p>
            <a:r>
              <a:t>INSTRUCTOR ANSWER: Compare runtime evidence across comparable intervals and row counts. Plan forcing needs validation and rollback. The fixture shows query 17 changing from plan 3 to 8 with higher duration/reads after deployment, while the job failure is a separate permission issue. The live training job deliberately throws a synthetic error.</a:t>
            </a:r>
          </a:p>
          <a:p/>
          <a:p>
            <a:r>
              <a:t>Deliverable: A blocking worksheet, plan comparison and job-failure escalation.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module2/exercises/07-sqlserver-blocking-plans-jobs.md</a:t>
            </a:r>
          </a:p>
          <a:p>
            <a:r>
              <a:t>Duration: 40</a:t>
            </a:r>
          </a:p>
          <a:p/>
          <a:p>
            <a:r>
              <a:t>Open three SQL client sessions</a:t>
            </a:r>
          </a:p>
          <a:p>
            <a:r>
              <a:t>Prepare three independent query windows</a:t>
            </a:r>
          </a:p>
          <a:p>
            <a:r>
              <a:t>Acquire a lock in A</a:t>
            </a:r>
          </a:p>
          <a:p>
            <a:r>
              <a:t>Create a bounded wait in B</a:t>
            </a:r>
          </a:p>
          <a:p>
            <a:r>
              <a:t>Observe the blocker</a:t>
            </a:r>
          </a:p>
          <a:p>
            <a:r>
              <a:t>Release A’s transaction</a:t>
            </a:r>
          </a:p>
          <a:p>
            <a:r>
              <a:t>Release B and verify data</a:t>
            </a:r>
          </a:p>
          <a:p>
            <a:r>
              <a:t>Live extension — Compare a controlled index change</a:t>
            </a:r>
          </a:p>
          <a:p>
            <a:r>
              <a:t>Live extension — Start the intentional job failure</a:t>
            </a:r>
          </a:p>
          <a:p>
            <a:r>
              <a:t>Live extension — Read job history with the learner login</a:t>
            </a:r>
          </a:p>
          <a:p>
            <a:r>
              <a:t>Compare captured Query Store and job evidence</a:t>
            </a:r>
          </a:p>
          <a:p>
            <a:r>
              <a:t>Transfer the method without copying</a:t>
            </a:r>
          </a:p>
          <a:p/>
          <a:p>
            <a:r>
              <a:t>INSTRUCTOR ANSWER: Compare runtime evidence across comparable intervals and row counts. Plan forcing needs validation and rollback. The fixture shows query 17 changing from plan 3 to 8 with higher duration/reads after deployment, while the job failure is a separate permission issue. The live training job deliberately throws a synthetic error.</a:t>
            </a:r>
          </a:p>
          <a:p/>
          <a:p>
            <a:r>
              <a:t>Deliverable: A blocking worksheet, plan comparison and job-failure escalation.</a:t>
            </a:r>
          </a:p>
          <a:p/>
          <a:p>
            <a:r>
              <a:t>FULL WORKSHEET COMMANDS:</a:t>
            </a:r>
          </a:p>
          <a:p>
            <a:r>
              <a:t>sqlcmd "${SQL_TLS_ARGS[@]}" -S "tcp:$SQL_HOST,1433" -U "$SQL_LOGIN" -d SupportLab</a:t>
            </a:r>
          </a:p>
          <a:p/>
          <a:p>
            <a:r>
              <a:t>USE SupportLab;</a:t>
            </a:r>
          </a:p>
          <a:p>
            <a:r>
              <a:t>SELECT @@SPID AS session_id;</a:t>
            </a:r>
          </a:p>
          <a:p>
            <a:r>
              <a:t>GO</a:t>
            </a:r>
          </a:p>
          <a:p/>
          <a:p>
            <a:r>
              <a:t>BEGIN TRAN;</a:t>
            </a:r>
          </a:p>
          <a:p>
            <a:r>
              <a:t>UPDATE dbo.Players SET points=points+1 WHERE id=1;</a:t>
            </a:r>
          </a:p>
          <a:p>
            <a:r>
              <a:t>GO</a:t>
            </a:r>
          </a:p>
          <a:p/>
          <a:p>
            <a:r>
              <a:t>SET LOCK_TIMEOUT 15000;</a:t>
            </a:r>
          </a:p>
          <a:p>
            <a:r>
              <a:t>BEGIN TRAN;</a:t>
            </a:r>
          </a:p>
          <a:p>
            <a:r>
              <a:t>UPDATE dbo.Players SET points=points+1 WHERE id=1;</a:t>
            </a:r>
          </a:p>
          <a:p>
            <a:r>
              <a:t>GO</a:t>
            </a:r>
          </a:p>
          <a:p/>
          <a:p>
            <a:r>
              <a:t>SELECT session_id,status,wait_type,blocking_session_id</a:t>
            </a:r>
          </a:p>
          <a:p>
            <a:r>
              <a:t>FROM sys.dm_exec_requests WHERE blocking_session_id &gt; 0;</a:t>
            </a:r>
          </a:p>
          <a:p>
            <a:r>
              <a:t>GO</a:t>
            </a:r>
          </a:p>
          <a:p/>
          <a:p>
            <a:r>
              <a:t>IF @@TRANCOUNT &gt; 0 ROLLBACK;</a:t>
            </a:r>
          </a:p>
          <a:p>
            <a:r>
              <a:t>SELECT @@TRANCOUNT AS open_transactions;</a:t>
            </a:r>
          </a:p>
          <a:p>
            <a:r>
              <a:t>GO</a:t>
            </a:r>
          </a:p>
          <a:p/>
          <a:p>
            <a:r>
              <a:t>IF @@TRANCOUNT &gt; 0 ROLLBACK;</a:t>
            </a:r>
          </a:p>
          <a:p>
            <a:r>
              <a:t>SELECT @@TRANCOUNT AS open_transactions;</a:t>
            </a:r>
          </a:p>
          <a:p>
            <a:r>
              <a:t>SELECT id,points FROM dbo.Players ORDER BY id;</a:t>
            </a:r>
          </a:p>
          <a:p>
            <a:r>
              <a:t>GO</a:t>
            </a:r>
          </a:p>
          <a:p/>
          <a:p>
            <a:r>
              <a:t>USE SupportLab;</a:t>
            </a:r>
          </a:p>
          <a:p>
            <a:r>
              <a:t>CREATE INDEX IX_Transactions_Player ON dbo.Transactions(player_id) INCLUDE(amount);</a:t>
            </a:r>
          </a:p>
          <a:p>
            <a:r>
              <a:t>EXEC sys.sp_query_store_flush_db;</a:t>
            </a:r>
          </a:p>
          <a:p>
            <a:r>
              <a:t>GO</a:t>
            </a:r>
          </a:p>
          <a:p/>
          <a:p>
            <a:r>
              <a:t>EXEC msdb.dbo.sp_start_job @job_name=N'SupportLab-IntentionalFailure';</a:t>
            </a:r>
          </a:p>
          <a:p>
            <a:r>
              <a:t>GO</a:t>
            </a:r>
          </a:p>
          <a:p/>
          <a:p>
            <a:r>
              <a:t>EXEC msdb.dbo.sp_help_jobhistory @job_name=N'SupportLab-IntentionalFailure', @mode=N'FULL';</a:t>
            </a:r>
          </a:p>
          <a:p>
            <a:r>
              <a:t>GO</a:t>
            </a:r>
          </a:p>
          <a:p/>
          <a:p>
            <a:r>
              <a:t>cat "$COURSE_ROOT/shared/fixtures/query-store.csv"</a:t>
            </a:r>
          </a:p>
          <a:p>
            <a:r>
              <a:t>cat "$COURSE_ROOT/shared/fixtures/job-history.csv"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module2/exercises/07-sqlserver-blocking-plans-jobs.md</a:t>
            </a:r>
          </a:p>
          <a:p>
            <a:r>
              <a:t>Duration: 40</a:t>
            </a:r>
          </a:p>
          <a:p/>
          <a:p>
            <a:r>
              <a:t>Open three SQL client sessions</a:t>
            </a:r>
          </a:p>
          <a:p>
            <a:r>
              <a:t>Prepare three independent query windows</a:t>
            </a:r>
          </a:p>
          <a:p>
            <a:r>
              <a:t>Acquire a lock in A</a:t>
            </a:r>
          </a:p>
          <a:p>
            <a:r>
              <a:t>Create a bounded wait in B</a:t>
            </a:r>
          </a:p>
          <a:p>
            <a:r>
              <a:t>Observe the blocker</a:t>
            </a:r>
          </a:p>
          <a:p>
            <a:r>
              <a:t>Release A’s transaction</a:t>
            </a:r>
          </a:p>
          <a:p>
            <a:r>
              <a:t>Release B and verify data</a:t>
            </a:r>
          </a:p>
          <a:p>
            <a:r>
              <a:t>Live extension — Compare a controlled index change</a:t>
            </a:r>
          </a:p>
          <a:p>
            <a:r>
              <a:t>Live extension — Start the intentional job failure</a:t>
            </a:r>
          </a:p>
          <a:p>
            <a:r>
              <a:t>Live extension — Read job history with the learner login</a:t>
            </a:r>
          </a:p>
          <a:p>
            <a:r>
              <a:t>Compare captured Query Store and job evidence</a:t>
            </a:r>
          </a:p>
          <a:p>
            <a:r>
              <a:t>Transfer the method without copying</a:t>
            </a:r>
          </a:p>
          <a:p/>
          <a:p>
            <a:r>
              <a:t>INSTRUCTOR ANSWER: Compare runtime evidence across comparable intervals and row counts. Plan forcing needs validation and rollback. The fixture shows query 17 changing from plan 3 to 8 with higher duration/reads after deployment, while the job failure is a separate permission issue. The live training job deliberately throws a synthetic error.</a:t>
            </a:r>
          </a:p>
          <a:p/>
          <a:p>
            <a:r>
              <a:t>Deliverable: A blocking worksheet, plan comparison and job-failure escalation.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module2/exercises/07-sqlserver-blocking-plans-jobs.md</a:t>
            </a:r>
          </a:p>
          <a:p>
            <a:r>
              <a:t>Duration: 40</a:t>
            </a:r>
          </a:p>
          <a:p/>
          <a:p>
            <a:r>
              <a:t>Open three SQL client sessions</a:t>
            </a:r>
          </a:p>
          <a:p>
            <a:r>
              <a:t>Prepare three independent query windows</a:t>
            </a:r>
          </a:p>
          <a:p>
            <a:r>
              <a:t>Acquire a lock in A</a:t>
            </a:r>
          </a:p>
          <a:p>
            <a:r>
              <a:t>Create a bounded wait in B</a:t>
            </a:r>
          </a:p>
          <a:p>
            <a:r>
              <a:t>Observe the blocker</a:t>
            </a:r>
          </a:p>
          <a:p>
            <a:r>
              <a:t>Release A’s transaction</a:t>
            </a:r>
          </a:p>
          <a:p>
            <a:r>
              <a:t>Release B and verify data</a:t>
            </a:r>
          </a:p>
          <a:p>
            <a:r>
              <a:t>Live extension — Compare a controlled index change</a:t>
            </a:r>
          </a:p>
          <a:p>
            <a:r>
              <a:t>Live extension — Start the intentional job failure</a:t>
            </a:r>
          </a:p>
          <a:p>
            <a:r>
              <a:t>Live extension — Read job history with the learner login</a:t>
            </a:r>
          </a:p>
          <a:p>
            <a:r>
              <a:t>Compare captured Query Store and job evidence</a:t>
            </a:r>
          </a:p>
          <a:p>
            <a:r>
              <a:t>Transfer the method without copying</a:t>
            </a:r>
          </a:p>
          <a:p/>
          <a:p>
            <a:r>
              <a:t>INSTRUCTOR ANSWER: Compare runtime evidence across comparable intervals and row counts. Plan forcing needs validation and rollback. The fixture shows query 17 changing from plan 3 to 8 with higher duration/reads after deployment, while the job failure is a separate permission issue. The live training job deliberately throws a synthetic error.</a:t>
            </a:r>
          </a:p>
          <a:p/>
          <a:p>
            <a:r>
              <a:t>Deliverable: A blocking worksheet, plan comparison and job-failure escalation.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module2/exercises/08-app-db-correlation.md</a:t>
            </a:r>
          </a:p>
          <a:p>
            <a:r>
              <a:t>Duration: 50</a:t>
            </a:r>
          </a:p>
          <a:p/>
          <a:p>
            <a:r>
              <a:t>Read and reconcile the synthetic request timing</a:t>
            </a:r>
          </a:p>
          <a:p>
            <a:r>
              <a:t>Measure the healthy live baseline</a:t>
            </a:r>
          </a:p>
          <a:p>
            <a:r>
              <a:t>Introduce application-side delay</a:t>
            </a:r>
          </a:p>
          <a:p>
            <a:r>
              <a:t>Compare latency with application evidence</a:t>
            </a:r>
          </a:p>
          <a:p>
            <a:r>
              <a:t>Reset and confirm the comparison</a:t>
            </a:r>
          </a:p>
          <a:p>
            <a:r>
              <a:t>Transfer the method without copying</a:t>
            </a:r>
          </a:p>
          <a:p/>
          <a:p>
            <a:r>
              <a:t>INSTRUCTOR ANSWER: The supplied request waits 4,000 ms for a pool connection, spends 40 ms in SQL and 960 ms elsewhere. The live latency fault intentionally delays after connecting; it is not a real pool implementation. Repeated retries can increase load and duplicate non-idempotent work.</a:t>
            </a:r>
          </a:p>
          <a:p/>
          <a:p>
            <a:r>
              <a:t>Deliverable: A correlated timeline and a targeted escalation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module2/exercises/08-app-db-correlation.md</a:t>
            </a:r>
          </a:p>
          <a:p>
            <a:r>
              <a:t>Duration: 50</a:t>
            </a:r>
          </a:p>
          <a:p/>
          <a:p>
            <a:r>
              <a:t>Read and reconcile the synthetic request timing</a:t>
            </a:r>
          </a:p>
          <a:p>
            <a:r>
              <a:t>Measure the healthy live baseline</a:t>
            </a:r>
          </a:p>
          <a:p>
            <a:r>
              <a:t>Introduce application-side delay</a:t>
            </a:r>
          </a:p>
          <a:p>
            <a:r>
              <a:t>Compare latency with application evidence</a:t>
            </a:r>
          </a:p>
          <a:p>
            <a:r>
              <a:t>Reset and confirm the comparison</a:t>
            </a:r>
          </a:p>
          <a:p>
            <a:r>
              <a:t>Transfer the method without copying</a:t>
            </a:r>
          </a:p>
          <a:p/>
          <a:p>
            <a:r>
              <a:t>INSTRUCTOR ANSWER: The supplied request waits 4,000 ms for a pool connection, spends 40 ms in SQL and 960 ms elsewhere. The live latency fault intentionally delays after connecting; it is not a real pool implementation. Repeated retries can increase load and duplicate non-idempotent work.</a:t>
            </a:r>
          </a:p>
          <a:p/>
          <a:p>
            <a:r>
              <a:t>Deliverable: A correlated timeline and a targeted escalation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module2/exercises/08-app-db-correlation.md</a:t>
            </a:r>
          </a:p>
          <a:p>
            <a:r>
              <a:t>Duration: 50</a:t>
            </a:r>
          </a:p>
          <a:p/>
          <a:p>
            <a:r>
              <a:t>Read and reconcile the synthetic request timing</a:t>
            </a:r>
          </a:p>
          <a:p>
            <a:r>
              <a:t>Measure the healthy live baseline</a:t>
            </a:r>
          </a:p>
          <a:p>
            <a:r>
              <a:t>Introduce application-side delay</a:t>
            </a:r>
          </a:p>
          <a:p>
            <a:r>
              <a:t>Compare latency with application evidence</a:t>
            </a:r>
          </a:p>
          <a:p>
            <a:r>
              <a:t>Reset and confirm the comparison</a:t>
            </a:r>
          </a:p>
          <a:p>
            <a:r>
              <a:t>Transfer the method without copying</a:t>
            </a:r>
          </a:p>
          <a:p/>
          <a:p>
            <a:r>
              <a:t>INSTRUCTOR ANSWER: The supplied request waits 4,000 ms for a pool connection, spends 40 ms in SQL and 960 ms elsewhere. The live latency fault intentionally delays after connecting; it is not a real pool implementation. Repeated retries can increase load and duplicate non-idempotent work.</a:t>
            </a:r>
          </a:p>
          <a:p/>
          <a:p>
            <a:r>
              <a:t>Deliverable: A correlated timeline and a targeted escalation request.</a:t>
            </a:r>
          </a:p>
          <a:p/>
          <a:p>
            <a:r>
              <a:t>FULL WORKSHEET COMMANDS:</a:t>
            </a:r>
          </a:p>
          <a:p>
            <a:r>
              <a:t>cd "$COURSE_ROOT"</a:t>
            </a:r>
          </a:p>
          <a:p>
            <a:r>
              <a:t>cat shared/fixtures/correlation.csv</a:t>
            </a:r>
          </a:p>
          <a:p/>
          <a:p>
            <a:r>
              <a:t>shared/scripts/traffic.sh http://127.0.0.1:8080/loyalty 5</a:t>
            </a:r>
          </a:p>
          <a:p/>
          <a:p>
            <a:r>
              <a:t>cd "$COURSE_ROOT"</a:t>
            </a:r>
          </a:p>
          <a:p>
            <a:r>
              <a:t>sudo shared/scripts/fault.sh latency</a:t>
            </a:r>
          </a:p>
          <a:p/>
          <a:p>
            <a:r>
              <a:t>shared/scripts/traffic.sh http://127.0.0.1:8080/loyalty 5</a:t>
            </a:r>
          </a:p>
          <a:p>
            <a:r>
              <a:t>journalctl -u support-tomcat --since '5 minutes ago' --utc --no-pager</a:t>
            </a:r>
          </a:p>
          <a:p/>
          <a:p>
            <a:r>
              <a:t>sudo shared/scripts/fault.sh reset</a:t>
            </a:r>
          </a:p>
          <a:p>
            <a:r>
              <a:t>shared/scripts/traffic.sh http://127.0.0.1:8080/loyalty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module2/exercises/08-app-db-correlation.md</a:t>
            </a:r>
          </a:p>
          <a:p>
            <a:r>
              <a:t>Duration: 50</a:t>
            </a:r>
          </a:p>
          <a:p/>
          <a:p>
            <a:r>
              <a:t>Read and reconcile the synthetic request timing</a:t>
            </a:r>
          </a:p>
          <a:p>
            <a:r>
              <a:t>Measure the healthy live baseline</a:t>
            </a:r>
          </a:p>
          <a:p>
            <a:r>
              <a:t>Introduce application-side delay</a:t>
            </a:r>
          </a:p>
          <a:p>
            <a:r>
              <a:t>Compare latency with application evidence</a:t>
            </a:r>
          </a:p>
          <a:p>
            <a:r>
              <a:t>Reset and confirm the comparison</a:t>
            </a:r>
          </a:p>
          <a:p>
            <a:r>
              <a:t>Transfer the method without copying</a:t>
            </a:r>
          </a:p>
          <a:p/>
          <a:p>
            <a:r>
              <a:t>INSTRUCTOR ANSWER: The supplied request waits 4,000 ms for a pool connection, spends 40 ms in SQL and 960 ms elsewhere. The live latency fault intentionally delays after connecting; it is not a real pool implementation. Repeated retries can increase load and duplicate non-idempotent work.</a:t>
            </a:r>
          </a:p>
          <a:p/>
          <a:p>
            <a:r>
              <a:t>Deliverable: A correlated timeline and a targeted escalation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module2/exercises/08-app-db-correlation.md</a:t>
            </a:r>
          </a:p>
          <a:p>
            <a:r>
              <a:t>Duration: 50</a:t>
            </a:r>
          </a:p>
          <a:p/>
          <a:p>
            <a:r>
              <a:t>Read and reconcile the synthetic request timing</a:t>
            </a:r>
          </a:p>
          <a:p>
            <a:r>
              <a:t>Measure the healthy live baseline</a:t>
            </a:r>
          </a:p>
          <a:p>
            <a:r>
              <a:t>Introduce application-side delay</a:t>
            </a:r>
          </a:p>
          <a:p>
            <a:r>
              <a:t>Compare latency with application evidence</a:t>
            </a:r>
          </a:p>
          <a:p>
            <a:r>
              <a:t>Reset and confirm the comparison</a:t>
            </a:r>
          </a:p>
          <a:p>
            <a:r>
              <a:t>Transfer the method without copying</a:t>
            </a:r>
          </a:p>
          <a:p/>
          <a:p>
            <a:r>
              <a:t>INSTRUCTOR ANSWER: The supplied request waits 4,000 ms for a pool connection, spends 40 ms in SQL and 960 ms elsewhere. The live latency fault intentionally delays after connecting; it is not a real pool implementation. Repeated retries can increase load and duplicate non-idempotent work.</a:t>
            </a:r>
          </a:p>
          <a:p/>
          <a:p>
            <a:r>
              <a:t>Deliverable: A correlated timeline and a targeted escalation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module2/exercises/09-database-capstone.md</a:t>
            </a:r>
          </a:p>
          <a:p>
            <a:r>
              <a:t>Duration: 75</a:t>
            </a:r>
          </a:p>
          <a:p/>
          <a:p>
            <a:r>
              <a:t>Prepare your submission workspace</a:t>
            </a:r>
          </a:p>
          <a:p>
            <a:r>
              <a:t>Prepare database-specific evidence</a:t>
            </a:r>
          </a:p>
          <a:p>
            <a:r>
              <a:t>Receive the incident and assign roles</a:t>
            </a:r>
          </a:p>
          <a:p>
            <a:r>
              <a:t>Investigate within the time budget</a:t>
            </a:r>
          </a:p>
          <a:p>
            <a:r>
              <a:t>Collect and inspect evidence</a:t>
            </a:r>
          </a:p>
          <a:p>
            <a:r>
              <a:t>Propose one mitigation and define recovery</a:t>
            </a:r>
          </a:p>
          <a:p>
            <a:r>
              <a:t>Verify and hand over</a:t>
            </a:r>
          </a:p>
          <a:p/>
          <a:p>
            <a:r>
              <a:t>INSTRUCTOR ANSWER: Case D: execution count and returned rows are stable; reads and per-call duration rose after a plan changed. No observed blocker explains the sampled window. Compare plan/statistics/deployment evidence before proposing an index. Post-change capture is consistent with reduced work but does not prove which production change would be best. See the concealed case D release card.</a:t>
            </a:r>
          </a:p>
          <a:p/>
          <a:p>
            <a:r>
              <a:t>Deliverable: A case report with calculations, alternative hypotheses, before/after comparison and a database-health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module2/exercises/09-database-capstone.md</a:t>
            </a:r>
          </a:p>
          <a:p>
            <a:r>
              <a:t>Duration: 75</a:t>
            </a:r>
          </a:p>
          <a:p/>
          <a:p>
            <a:r>
              <a:t>Prepare your submission workspace</a:t>
            </a:r>
          </a:p>
          <a:p>
            <a:r>
              <a:t>Prepare database-specific evidence</a:t>
            </a:r>
          </a:p>
          <a:p>
            <a:r>
              <a:t>Receive the incident and assign roles</a:t>
            </a:r>
          </a:p>
          <a:p>
            <a:r>
              <a:t>Investigate within the time budget</a:t>
            </a:r>
          </a:p>
          <a:p>
            <a:r>
              <a:t>Collect and inspect evidence</a:t>
            </a:r>
          </a:p>
          <a:p>
            <a:r>
              <a:t>Propose one mitigation and define recovery</a:t>
            </a:r>
          </a:p>
          <a:p>
            <a:r>
              <a:t>Verify and hand over</a:t>
            </a:r>
          </a:p>
          <a:p/>
          <a:p>
            <a:r>
              <a:t>INSTRUCTOR ANSWER: Case D: execution count and returned rows are stable; reads and per-call duration rose after a plan changed. No observed blocker explains the sampled window. Compare plan/statistics/deployment evidence before proposing an index. Post-change capture is consistent with reduced work but does not prove which production change would be best. See the concealed case D release card.</a:t>
            </a:r>
          </a:p>
          <a:p/>
          <a:p>
            <a:r>
              <a:t>Deliverable: A case report with calculations, alternative hypotheses, before/after comparison and a database-health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module2/exercises/09-database-capstone.md</a:t>
            </a:r>
          </a:p>
          <a:p>
            <a:r>
              <a:t>Duration: 75</a:t>
            </a:r>
          </a:p>
          <a:p/>
          <a:p>
            <a:r>
              <a:t>Prepare your submission workspace</a:t>
            </a:r>
          </a:p>
          <a:p>
            <a:r>
              <a:t>Prepare database-specific evidence</a:t>
            </a:r>
          </a:p>
          <a:p>
            <a:r>
              <a:t>Receive the incident and assign roles</a:t>
            </a:r>
          </a:p>
          <a:p>
            <a:r>
              <a:t>Investigate within the time budget</a:t>
            </a:r>
          </a:p>
          <a:p>
            <a:r>
              <a:t>Collect and inspect evidence</a:t>
            </a:r>
          </a:p>
          <a:p>
            <a:r>
              <a:t>Propose one mitigation and define recovery</a:t>
            </a:r>
          </a:p>
          <a:p>
            <a:r>
              <a:t>Verify and hand over</a:t>
            </a:r>
          </a:p>
          <a:p/>
          <a:p>
            <a:r>
              <a:t>INSTRUCTOR ANSWER: Case D: execution count and returned rows are stable; reads and per-call duration rose after a plan changed. No observed blocker explains the sampled window. Compare plan/statistics/deployment evidence before proposing an index. Post-change capture is consistent with reduced work but does not prove which production change would be best. See the concealed case D release card.</a:t>
            </a:r>
          </a:p>
          <a:p/>
          <a:p>
            <a:r>
              <a:t>Deliverable: A case report with calculations, alternative hypotheses, before/after comparison and a database-health design.</a:t>
            </a:r>
          </a:p>
          <a:p/>
          <a:p>
            <a:r>
              <a:t>FULL WORKSHEET COMMANDS:</a:t>
            </a:r>
          </a:p>
          <a:p>
            <a:r>
              <a:t>cp -i "$COURSE_ROOT/shared/templates/incident-report.md" "$HOME/support-lab/evidence/m2-09/incident.md"</a:t>
            </a:r>
          </a:p>
          <a:p>
            <a:r>
              <a:t>date -u +%FT%TZ</a:t>
            </a:r>
          </a:p>
          <a:p>
            <a:r>
              <a:t>nano "$HOME/support-lab/evidence/m2-09/incident.md"</a:t>
            </a:r>
          </a:p>
          <a:p/>
          <a:p>
            <a:r>
              <a:t>cp -i -i "$COURSE_ROOT/shared/templates/database-report.md" ~/support-lab/evidence/m2-09/database-report.md</a:t>
            </a:r>
          </a:p>
          <a:p>
            <a:r>
              <a:t>cat "$COURSE_ROOT/shared/fixtures/database-incident.md"</a:t>
            </a:r>
          </a:p>
          <a:p/>
          <a:p>
            <a:r>
              <a:t>cp -i "$COURSE_ROOT/shared/fixtures/database-incident.md" "$HOME/support-lab/evidence/m2-09/case-before.md"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module2/exercises/09-database-capstone.md</a:t>
            </a:r>
          </a:p>
          <a:p>
            <a:r>
              <a:t>Duration: 75</a:t>
            </a:r>
          </a:p>
          <a:p/>
          <a:p>
            <a:r>
              <a:t>Prepare your submission workspace</a:t>
            </a:r>
          </a:p>
          <a:p>
            <a:r>
              <a:t>Prepare database-specific evidence</a:t>
            </a:r>
          </a:p>
          <a:p>
            <a:r>
              <a:t>Receive the incident and assign roles</a:t>
            </a:r>
          </a:p>
          <a:p>
            <a:r>
              <a:t>Investigate within the time budget</a:t>
            </a:r>
          </a:p>
          <a:p>
            <a:r>
              <a:t>Collect and inspect evidence</a:t>
            </a:r>
          </a:p>
          <a:p>
            <a:r>
              <a:t>Propose one mitigation and define recovery</a:t>
            </a:r>
          </a:p>
          <a:p>
            <a:r>
              <a:t>Verify and hand over</a:t>
            </a:r>
          </a:p>
          <a:p/>
          <a:p>
            <a:r>
              <a:t>INSTRUCTOR ANSWER: Case D: execution count and returned rows are stable; reads and per-call duration rose after a plan changed. No observed blocker explains the sampled window. Compare plan/statistics/deployment evidence before proposing an index. Post-change capture is consistent with reduced work but does not prove which production change would be best. See the concealed case D release card.</a:t>
            </a:r>
          </a:p>
          <a:p/>
          <a:p>
            <a:r>
              <a:t>Deliverable: A case report with calculations, alternative hypotheses, before/after comparison and a database-health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module2/exercises/09-database-capstone.md</a:t>
            </a:r>
          </a:p>
          <a:p>
            <a:r>
              <a:t>Duration: 75</a:t>
            </a:r>
          </a:p>
          <a:p/>
          <a:p>
            <a:r>
              <a:t>Prepare your submission workspace</a:t>
            </a:r>
          </a:p>
          <a:p>
            <a:r>
              <a:t>Prepare database-specific evidence</a:t>
            </a:r>
          </a:p>
          <a:p>
            <a:r>
              <a:t>Receive the incident and assign roles</a:t>
            </a:r>
          </a:p>
          <a:p>
            <a:r>
              <a:t>Investigate within the time budget</a:t>
            </a:r>
          </a:p>
          <a:p>
            <a:r>
              <a:t>Collect and inspect evidence</a:t>
            </a:r>
          </a:p>
          <a:p>
            <a:r>
              <a:t>Propose one mitigation and define recovery</a:t>
            </a:r>
          </a:p>
          <a:p>
            <a:r>
              <a:t>Verify and hand over</a:t>
            </a:r>
          </a:p>
          <a:p/>
          <a:p>
            <a:r>
              <a:t>INSTRUCTOR ANSWER: Case D: execution count and returned rows are stable; reads and per-call duration rose after a plan changed. No observed blocker explains the sampled window. Compare plan/statistics/deployment evidence before proposing an index. Post-change capture is consistent with reduced work but does not prove which production change would be best. See the concealed case D release card.</a:t>
            </a:r>
          </a:p>
          <a:p/>
          <a:p>
            <a:r>
              <a:t>Deliverable: A case report with calculations, alternative hypotheses, before/after comparison and a database-health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AWS: extend an EBS filesystem: https://docs.aws.amazon.com/ebs/latest/userguide/recognize-expanded-volume-linux.html</a:t>
            </a:r>
          </a:p>
          <a:p>
            <a:r>
              <a:t>Apache Tomcat 10.1 setup: https://tomcat.apache.org/tomcat-10.1-doc/setup.html</a:t>
            </a:r>
          </a:p>
          <a:p>
            <a:r>
              <a:t>MySQL slow-query log: https://dev.mysql.com/doc/refman/8.4/en/slow-query-log.html</a:t>
            </a:r>
          </a:p>
          <a:p>
            <a:r>
              <a:t>Microsoft: install SQL Server on Ubuntu: https://learn.microsoft.com/en-us/sql/linux/quickstart-install-connect-ubuntu?view=sql-server-ver16</a:t>
            </a:r>
          </a:p>
          <a:p>
            <a:r>
              <a:t>Microsoft: active requests and permissions: https://learn.microsoft.com/en-us/sql/relational-databases/system-dynamic-management-views/sys-dm-exec-requests-transact-sql?view=sql-server-ver16</a:t>
            </a:r>
          </a:p>
          <a:p>
            <a:r>
              <a:t>GNU Bash reference: https://www.gnu.org/software/bash/manual/bash.html</a:t>
            </a:r>
          </a:p>
          <a:p>
            <a:r>
              <a:t>Red Hat: ext4 quotas: https://docs.redhat.com/en/documentation/red_hat_enterprise_linux/10/html/managing_file_systems/limiting-storage-space-usage-on-ext4-with-quotas</a:t>
            </a:r>
          </a:p>
          <a:p>
            <a:r>
              <a:t>Pass: 70/100 with required evidence, script/outline and recovery verification. See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THREE-DAY PRACTICAL TRAINING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Module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0789920" cy="201168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Database performance</a:t>
            </a:r>
          </a:p>
          <a:p>
            <a:pPr algn="l">
              <a:spcAft>
                <a:spcPts val="12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and incident diagnostics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0789920" cy="11887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One day • 390 instructional minutes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Investigate → explain → mitigate → verify → hand 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APPLICATION SUPPORT AND MONITORING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Today’s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10972800" cy="43891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1C2024"/>
                </a:solidFill>
                <a:latin typeface="Aptos"/>
              </a:defRPr>
            </a:pPr>
            <a:r>
              <a:t> 35 min  |  Database baseline and safe access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1C2024"/>
                </a:solidFill>
                <a:latin typeface="Aptos"/>
              </a:defRPr>
            </a:pPr>
            <a:r>
              <a:t> 40 min  |  MySQL slow-query capture and ranking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1C2024"/>
                </a:solidFill>
                <a:latin typeface="Aptos"/>
              </a:defRPr>
            </a:pPr>
            <a:r>
              <a:t> 35 min  |  EXPLAIN, indexes and misleading assumptions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1C2024"/>
                </a:solidFill>
                <a:latin typeface="Aptos"/>
              </a:defRPr>
            </a:pPr>
            <a:r>
              <a:t> 40 min  |  MySQL blocking and deadlocks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1C2024"/>
                </a:solidFill>
                <a:latin typeface="Aptos"/>
              </a:defRPr>
            </a:pPr>
            <a:r>
              <a:t> 15 min  |  Replication delay and reporting freshness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1C2024"/>
                </a:solidFill>
                <a:latin typeface="Aptos"/>
              </a:defRPr>
            </a:pPr>
            <a:r>
              <a:t> 40 min  |  SQL Server requests, sessions and wait deltas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1C2024"/>
                </a:solidFill>
                <a:latin typeface="Aptos"/>
              </a:defRPr>
            </a:pPr>
            <a:r>
              <a:t> 40 min  |  Blocking chains, Query Store and job failures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1C2024"/>
                </a:solidFill>
                <a:latin typeface="Aptos"/>
              </a:defRPr>
            </a:pPr>
            <a:r>
              <a:t> 50 min  |  Application/database correlation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1C2024"/>
                </a:solidFill>
                <a:latin typeface="Aptos"/>
              </a:defRPr>
            </a:pPr>
            <a:r>
              <a:t> 75 min  |  Final database incident challenge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1C2024"/>
                </a:solidFill>
                <a:latin typeface="Aptos"/>
              </a:defRPr>
            </a:pPr>
            <a:r>
              <a:t>20 min  |  Checkpoints and recovery reserve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APPLICATION SUPPORT AND MONITORING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The lab system and its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3383280" cy="17373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LEARNER</a:t>
            </a:r>
          </a:p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SSH + individual account</a:t>
            </a:r>
          </a:p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Team workspace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20240"/>
            <a:ext cx="3383280" cy="17373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APPLICATION HOST</a:t>
            </a:r>
          </a:p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Tomcat + MySQL</a:t>
            </a:r>
          </a:p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Loyalty training 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920240"/>
            <a:ext cx="3383280" cy="17373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DATABASE LAB</a:t>
            </a:r>
          </a:p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SQL Server 2022</a:t>
            </a:r>
          </a:p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Query Store +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0698480" cy="15087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Request IDs connect application evidence.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Synthetic packs cover replication, IIS, SELinux and pooled-app incidents.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Fault injection and storage administration are instructor-controlled.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APPLICATION SUPPORT AND MONITORING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How to work an incident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789920" cy="42062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1  State impact and capture UTC time.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2  Preserve evidence before changing the system.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3  Test a hypothesis with a discriminating check.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4  Make one scoped change with a rollback.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5  Verify the affected business function and communicate.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LEARN  •  35 MINUTES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Database baseline and safe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11430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The application reports database errors. Establish engine, endpoint, identity and connectivity before tuning anything.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881360" cy="26974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Use a protected client option file instead of putting passwords in command arguments.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Read-only application rights differ from administrative diagnostic permissions.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Capture UTC time, engine version and connection counts with every baseline.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DATABASE BASELINE AND SAFE ACCESS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Your investigation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42519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1  Create a protected client configuration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2  Enter the client settings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3  Run the bounded health check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4  Enter MySQL and identify the session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5  Capture a read-only baseline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6  Inspect service and full diagnostics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DATABASE BASELINE AND SAFE ACCESS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Create a protected client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33375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umask 077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touch "$HOME/.support-lab.cnf"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chmod 600 "$HOME/.support-lab.cnf"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nano "$HOME/.support-lab.cnf"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10607040" cy="6858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E76"/>
                </a:solidFill>
                <a:latin typeface="Aptos"/>
              </a:defRPr>
            </a:pPr>
            <a:r>
              <a:t>Read the complete worksheet before executing. Instructor-only changes stay supervised.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DATABASE BASELINE AND SAFE ACCESS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Prove it — and challenge the obvious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Baseline identifies endpoint and effective database user.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Learner distinguishes access denied from server unreachable.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10881360" cy="2377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Can a successful SELECT 1 prove every business query is fast?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Does SHOW PROCESSLIST necessarily show all users to an unprivileged login?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DATABASE BASELINE AND SAFE ACCESS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Debrief and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13716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 database baseline and a protected client configuration, never submitted with its password.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698480" cy="20116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did the evidence prove?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alternative did you rule out?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How did you verify recovery?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remains uncertain?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LEARN  •  40 MINUTES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MySQL slow-query capture and 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11430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Player reports are slow. Capture an intentional slow query and rank work by both frequency and total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881360" cy="26974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Slow logging is a configuration change and must be restored after the exercise.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Global long_query_time becomes the default for new sessions; existing sessions may retain their value.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Frequency, total time, rows examined and lock time answer different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MYSQL SLOW-QUERY CAPTURE AND RANKING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Your investigation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42519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1  Record the original logging configuration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2  Enable a short capture window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3  Open a fresh learner connection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4  Create bounded slow-query evidence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5  Inspect the capture and rank the fixture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6  Restore the exact original values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MYSQL SLOW-QUERY CAPTURE AND RANKING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Open a fresh learner connection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33375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mysql --defaults-extra-file="$HOME/.support-lab.cnf"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10607040" cy="6858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E76"/>
                </a:solidFill>
                <a:latin typeface="Aptos"/>
              </a:defRPr>
            </a:pPr>
            <a:r>
              <a:t>Read the complete worksheet before executing. Instructor-only changes stay supervised.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MYSQL SLOW-QUERY CAPTURE AND RANKING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Prove it — and challenge the obvious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Slow record appears with query time, lock time and row counts.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Report explains why a frequent moderate query may cost more overall than one rare slow query.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10881360" cy="2377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Does Query_time alone prove CPU pressure?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Will changing a global threshold rewrite existing sessions?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MYSQL SLOW-QUERY CAPTURE AND RANKING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Debrief and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13716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 ranked slow-query table with units, frequency and next checks.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698480" cy="20116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did the evidence prove?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alternative did you rule out?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How did you verify recovery?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remains uncertain?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LEARN  •  35 MINUTES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EXPLAIN, indexes and misleading assumptions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11430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The report scans many transactions. Decide whether a targeted index improves this workload.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881360" cy="26974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EXPLAIN estimates access strategy and cardinality; it is not proof of actual elapsed time.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Indexes add write/storage costs and must be justified by workload.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A tiny training dataset may show plan differences without dramatic timing differences.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EXPLAIN, INDEXES AND MISLEADING ASSUMPTIONS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Read the plan before proposing an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3246120" cy="15087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Before: ALL / 100,000 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4487" y="2423160"/>
            <a:ext cx="457200" cy="5486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1">
                <a:solidFill>
                  <a:srgbClr val="EA4F2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011680"/>
            <a:ext cx="3246120" cy="15087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After: ref / 1,000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2423160"/>
            <a:ext cx="457200" cy="5486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1">
                <a:solidFill>
                  <a:srgbClr val="EA4F2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011680"/>
            <a:ext cx="3246120" cy="15087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Verify: time + same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1069848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  <a:r>
              <a:t>Illustrative EXPLAIN fields: type describes access; rows is an estimate. Measure actual work on the same input; an index also costs writes and space.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EXPLAIN, INDEXES AND MISLEADING ASSUMPTIONS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Connect and record the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33375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mysql --defaults-extra-file="$HOME/.support-lab.cnf"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10607040" cy="6858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E76"/>
                </a:solidFill>
                <a:latin typeface="Aptos"/>
              </a:defRPr>
            </a:pPr>
            <a:r>
              <a:t>Read the complete worksheet before executing. Instructor-only changes stay supervised.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EXPLAIN, INDEXES AND MISLEADING ASSUMPTIONS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Prove it — and challenge the obvious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Before/after plans and equivalent query results are retained.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Recommendation includes an index tradeoff and measurement limitation.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10881360" cy="2377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Is every full scan bad?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Can an index be present yet unused?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Does LIMIT guarantee cheap execution?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EXPLAIN, INDEXES AND MISLEADING ASSUMPTIONS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Debrief and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13716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 before/after plan comparison and an evidence-based recommendation.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698480" cy="20116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did the evidence prove?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alternative did you rule out?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How did you verify recovery?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remains uncertain?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LEARN  •  40 MINUTES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MySQL blocking and deadlocks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11430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Two concurrent updates stall. Separate an ordinary lock wait from a deadlock and recover both sessions.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881360" cy="26974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A blocking chain can persist without a cycle; a deadlock requires a cycle.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The deadlock victim is not necessarily the root cause.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An open transaction can hold locks even while its client appears idle.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MYSQL BLOCKING AND DEADLOCKS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A wait becomes a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3246120" cy="15087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A holds row 1; wants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4487" y="2423160"/>
            <a:ext cx="457200" cy="5486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1">
                <a:solidFill>
                  <a:srgbClr val="EA4F2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011680"/>
            <a:ext cx="3246120" cy="15087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B holds row 2; wants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2423160"/>
            <a:ext cx="457200" cy="5486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1">
                <a:solidFill>
                  <a:srgbClr val="EA4F2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011680"/>
            <a:ext cx="3246120" cy="15087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Victim rolls 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1069848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  <a:r>
              <a:t>Ordinary blocking has a waiter; a deadlock has a cycle. Verify both sessions after release.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MYSQL BLOCKING AND DEADLOCKS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Open all three MySQL sessions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33375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mysql --defaults-extra-file="$HOME/.support-lab.cnf" support_lab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10607040" cy="6858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E76"/>
                </a:solidFill>
                <a:latin typeface="Aptos"/>
              </a:defRPr>
            </a:pPr>
            <a:r>
              <a:t>Read the complete worksheet before executing. Instructor-only changes stay supervised.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MYSQL BLOCKING AND DEADLOCKS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Prove it — and challenge the obvious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Evidence shows the blocking relation or deadlock cycle.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Both sessions end their transactions and a subsequent update succeeds.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10881360" cy="2377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Does killing the waiting session remove the head blocker?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Does retrying immediately forever solve deadlocks safely?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MYSQL BLOCKING AND DEADLOCKS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Debrief and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13716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 lock diagram, deadlock interpretation and verified cleanup.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698480" cy="20116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did the evidence prove?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alternative did you rule out?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How did you verify recovery?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remains uncertain?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LEARN  •  15 MINUTES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Replication delay and reporting freshness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11430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A reporting screen shows stale points while the primary accepts transactions. This is a supplied evidence exercise, not a configured replica.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881360" cy="26974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Application routing and replica freshness must be investigated together.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Replication threads, errors and delay metrics need timestamps and context.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An empty replica-status result on a standalone server is not a replication failure.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REPLICATION DELAY AND REPORTING FRESHNESS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Your investigation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42519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1  Read the fixture and record provenance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2  Build a freshness table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3  Choose the next investigation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4  Transfer the method without copying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REPLICATION DELAY AND REPORTING FRESHNESS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Read the fixture and record provenance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33375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cd "$COURSE_ROOT"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cat shared/fixtures/replication.json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10607040" cy="6858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E76"/>
                </a:solidFill>
                <a:latin typeface="Aptos"/>
              </a:defRPr>
            </a:pPr>
            <a:r>
              <a:t>Read the complete worksheet before executing. Instructor-only changes stay supervised.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REPLICATION DELAY AND REPORTING FRESHNESS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Prove it — and challenge the obvious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Student recognizes NULL delay as unknown rather than healthy.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Recommendation addresses stale reads and the replication error separately.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10881360" cy="2377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Does a running receiver thread prove the applier is current?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Can reporting freshness be inferred from one lag number alone?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REPLICATION DELAY AND REPORTING FRESHNESS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Debrief and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13716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 replication escalation note with evidence and routing tradeoffs.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698480" cy="20116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did the evidence prove?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alternative did you rule out?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How did you verify recovery?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remains uncertain?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LEARN  •  40 MINUTES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SQL Server requests, sessions and wait deltas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11430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SQL Server is blamed for high CPU. Capture active work and distinguish current activity from cumulative counters.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881360" cy="26974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SQL Server 2022 diagnostic permissions differ from older examples; validate visibility first.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Requests and sessions are related but not interchangeable.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Wait statistics are cumulative; compare two captures over a known interval.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SQL SERVER REQUESTS, SESSIONS AND WAIT DELTAS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Your investigation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42519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1  Set connection details in the client shell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2  Confirm identity and database access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3  Capture baseline diagnostics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4  Observe a bounded workload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5  Compute interval wait deltas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6  Transfer the method without copying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SQL SERVER REQUESTS, SESSIONS AND WAIT DELTAS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Set connection details in the client shell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33375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read -r -p 'SQL Server hostname or private IP: ' SQL_HOST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read -r -p 'Assigned SQL login: ' SQL_LOGIN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read -r -s -p 'SQL password: ' SQLCMDPASSWORD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printf '\n'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export SQL_HOST SQL_LOGIN SQLCMDPASSWORD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SQL_TLS_ARGS=()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command -v sqlcmd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10607040" cy="6858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E76"/>
                </a:solidFill>
                <a:latin typeface="Aptos"/>
              </a:defRPr>
            </a:pPr>
            <a:r>
              <a:t>Read the complete worksheet before executing. Instructor-only changes stay supervised.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SQL SERVER REQUESTS, SESSIONS AND WAIT DELTAS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Prove it — and challenge the obvious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Report includes time window, permissions and correct units.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Student separates historical high waits from interval changes.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10881360" cy="2377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Can a sleeping session be the head blocker?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Does highest total_worker_time identify the currently slowest query?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SQL SERVER REQUESTS, SESSIONS AND WAIT DELTAS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Debrief and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13716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 SQL Server baseline and a wait-delta interpretation.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698480" cy="20116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did the evidence prove?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alternative did you rule out?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How did you verify recovery?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remains uncertain?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LEARN  •  40 MINUTES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Blocking chains, Query Store and job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11430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A deployment coincides with latency and a failed reporting job. Establish whether the symptoms share a cause.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881360" cy="26974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Identify the head blocker through sessions as well as active requests.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Query Store compares plans and runtime intervals; correlation with deployment is not proof of causation.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SQL Agent job outcome and step outcome need separate interpretation.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BLOCKING CHAINS, QUERY STORE AND JOB FAILURES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Observe before releasing the blocker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3246120" cy="15087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A: BEGIN + UPDATE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4487" y="2423160"/>
            <a:ext cx="457200" cy="5486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1">
                <a:solidFill>
                  <a:srgbClr val="EA4F2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011680"/>
            <a:ext cx="3246120" cy="15087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B: waits; Observer samples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2423160"/>
            <a:ext cx="457200" cy="5486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1">
                <a:solidFill>
                  <a:srgbClr val="EA4F2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011680"/>
            <a:ext cx="3246120" cy="15087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A rollback → B rollback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1069848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  <a:r>
              <a:t>Sleeping sessions may own open transactions. Preserve the blocking relation before cleanup.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BLOCKING CHAINS, QUERY STORE AND JOB FAILURES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Open three SQL client sessions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33375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sqlcmd "${SQL_TLS_ARGS[@]}" -S "tcp:$SQL_HOST,1433" -U "$SQL_LOGIN" -d SupportLab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10607040" cy="6858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E76"/>
                </a:solidFill>
                <a:latin typeface="Aptos"/>
              </a:defRPr>
            </a:pPr>
            <a:r>
              <a:t>Read the complete worksheet before executing. Instructor-only changes stay supervised.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BLOCKING CHAINS, QUERY STORE AND JOB FAILURES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Prove it — and challenge the obvious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Capture a blocking relation and roll back both sessions.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Compare Query Store duration/reads and identify the failed job step using live or explicitly synthetic evidence.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10881360" cy="2377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Does a changed plan guarantee a regression?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Is plan forcing always the safest first action?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Can a failed job explain stale reports without explaining API latency?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BLOCKING CHAINS, QUERY STORE AND JOB FAILURES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Debrief and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13716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 blocking worksheet, plan comparison and job-failure escalation.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698480" cy="20116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did the evidence prove?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alternative did you rule out?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How did you verify recovery?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remains uncertain?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LEARN  •  50 MINUTES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Application/database correlation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11430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An HTTP request took five seconds, but its database query took 40 milliseconds. Determine where the rest of the time went.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881360" cy="26974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Application latency includes pool waits, SQL time, retries and downstream work.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Correlate IDs and UTC windows; acknowledge clock skew and missing instrumentation.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Request IDs in app logs do not automatically appear in database logs.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APPLICATION/DATABASE CORRELATION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Your investigation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42519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1  Read and reconcile the synthetic request timing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2  Measure the healthy live baseline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3  Introduce application-side delay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4  Compare latency with application evidence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5  Reset and confirm the comparison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6  Transfer the method without copying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APPLICATION/DATABASE CORRELATION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Read and reconcile the synthetic request timing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33375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cd "$COURSE_ROOT"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cat shared/fixtures/correlation.csv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10607040" cy="6858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E76"/>
                </a:solidFill>
                <a:latin typeface="Aptos"/>
              </a:defRPr>
            </a:pPr>
            <a:r>
              <a:t>Read the complete worksheet before executing. Instructor-only changes stay supervised.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APPLICATION/DATABASE CORRELATION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Prove it — and challenge the obvious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Timeline accounts for measured time without inventing an exact database-request-ID join.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Learner distinguishes the sample app’s behavior from the supplied pooled-app evidence.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10881360" cy="2377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Does slow HTTP prove slow SQL?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Can retries amplify a partial outage?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APPLICATION/DATABASE CORRELATION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Debrief and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13716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 correlated timeline and a targeted escalation request.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698480" cy="20116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did the evidence prove?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alternative did you rule out?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How did you verify recovery?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remains uncertain?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LEARN  •  75 MINUTES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Final database incident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11430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A reporting request regressed after a release while ordinary player lookup remains responsive. Distinguish competing database causes using a separate synthetic incident pack.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881360" cy="26974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Quantify changes in workload, query cost and result equivalence.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Test competing causes with discriminating evidence.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Define a reversible correction and bounded database-health checks.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FINAL DATABASE INCIDENT CHALLENGE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Your investigation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42519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1  Prepare your submission workspace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2  Prepare database-specific evidence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3  Receive the incident and assign roles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4  Investigate within the time budget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5  Collect and inspect evidence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6  Propose one mitigation and define recovery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FINAL DATABASE INCIDENT CHALLENGE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Prepare your submission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33375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cp -i "$COURSE_ROOT/shared/templates/incident-report.md" "$HOME/support-lab/evidence/m2-09/incident.md"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date -u +%FT%TZ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nano "$HOME/support-lab/evidence/m2-09/incident.md"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10607040" cy="6858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E76"/>
                </a:solidFill>
                <a:latin typeface="Aptos"/>
              </a:defRPr>
            </a:pPr>
            <a:r>
              <a:t>Read the complete worksheet before executing. Instructor-only changes stay supervised.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FINAL DATABASE INCIDENT CHALLENGE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Prove it — and challenge the obvious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Quantify the report regression and test at least two explanations.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Propose a scoped change and compare instructor-released before/after evidence.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Submit a bounded database-health automation design and an individual explanation.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10881360" cy="2377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Do three unblocked snapshots rule out all intermittent blocking?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Does a plan change alone prove which repair is correct?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FINAL DATABASE INCIDENT CHALLENGE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Debrief and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13716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 case report with calculations, alternative hypotheses, before/after comparison and a database-health design.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698480" cy="20116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did the evidence prove?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alternative did you rule out?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How did you verify recovery?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remains uncertain?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APPLICATION SUPPORT AND MONITORING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Reference shelf and completion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2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30175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  <a:r>
              <a:t>Use shared/SOURCES.md for official technical references.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  <a:r>
              <a:t>Submit scripts, evidence, interpretations and recovery checks.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  <a:r>
              <a:t>Keep private keys and passwords out of submissions.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  <a:r>
              <a:t>Complete the core labs before attempting extension challenges.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937760"/>
            <a:ext cx="10881360" cy="73152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Evidence 25 • Diagnosis 25 • Recovery 20 • Automation 20 • Communication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